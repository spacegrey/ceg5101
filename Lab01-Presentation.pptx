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Merriweather Sans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L7Ukt2liuVR+9wYFZXtHCx1eT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rriweather Sans"/>
              <a:buNone/>
            </a:pPr>
            <a:r>
              <a:rPr lang="en-US" sz="1800">
                <a:latin typeface="Merriweather Sans"/>
                <a:ea typeface="Merriweather Sans"/>
                <a:cs typeface="Merriweather Sans"/>
                <a:sym typeface="Merriweather Sans"/>
              </a:rPr>
              <a:t>- Scalability </a:t>
            </a:r>
            <a:br>
              <a:rPr lang="en-US" sz="1800">
                <a:latin typeface="Merriweather Sans"/>
                <a:ea typeface="Merriweather Sans"/>
                <a:cs typeface="Merriweather Sans"/>
                <a:sym typeface="Merriweather Sans"/>
              </a:rPr>
            </a:br>
            <a:r>
              <a:rPr lang="en-US" sz="1800">
                <a:latin typeface="Merriweather Sans"/>
                <a:ea typeface="Merriweather Sans"/>
                <a:cs typeface="Merriweather Sans"/>
                <a:sym typeface="Merriweather Sans"/>
              </a:rPr>
              <a:t>- Ease of use </a:t>
            </a:r>
            <a:br>
              <a:rPr lang="en-US" sz="1800">
                <a:latin typeface="Merriweather Sans"/>
                <a:ea typeface="Merriweather Sans"/>
                <a:cs typeface="Merriweather Sans"/>
                <a:sym typeface="Merriweather Sans"/>
              </a:rPr>
            </a:br>
            <a:r>
              <a:rPr lang="en-US" sz="1800">
                <a:latin typeface="Merriweather Sans"/>
                <a:ea typeface="Merriweather Sans"/>
                <a:cs typeface="Merriweather Sans"/>
                <a:sym typeface="Merriweather Sans"/>
              </a:rPr>
              <a:t>- Performance Accuracy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Mininet provides an extensible Python API for network creation and experimentations.</a:t>
            </a:r>
            <a:endParaRPr/>
          </a:p>
        </p:txBody>
      </p:sp>
      <p:sp>
        <p:nvSpPr>
          <p:cNvPr id="119" name="Google Shape;11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/>
              <a:t>h1 ifconfig h1-eth0 10.0.0.3 netmask 255.255.255.0</a:t>
            </a:r>
            <a:endParaRPr/>
          </a:p>
        </p:txBody>
      </p:sp>
      <p:sp>
        <p:nvSpPr>
          <p:cNvPr id="146" name="Google Shape;14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0974142@u.nus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inine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mininet.org/walkthrough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nine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mininet.org/" TargetMode="External"/><Relationship Id="rId4" Type="http://schemas.openxmlformats.org/officeDocument/2006/relationships/hyperlink" Target="https://github.com/mininet/mininet/wiki/Video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Lab 01</a:t>
            </a:r>
            <a:br>
              <a:rPr lang="en-US"/>
            </a:br>
            <a:r>
              <a:rPr lang="en-US"/>
              <a:t>Introduction to Mininet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74454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600"/>
              <a:buNone/>
            </a:pPr>
            <a:r>
              <a:rPr lang="en-US" sz="1400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CEG5101 Modern Computer Networking</a:t>
            </a:r>
            <a:endParaRPr sz="14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600"/>
              <a:buNone/>
            </a:pPr>
            <a:r>
              <a:rPr lang="en-US" sz="1400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Graduate Assistants</a:t>
            </a:r>
            <a:r>
              <a:rPr lang="en-US" sz="1400" b="1" dirty="0">
                <a:solidFill>
                  <a:srgbClr val="00B050"/>
                </a:solidFill>
              </a:rPr>
              <a:t>: Mr. Binghui Wu (e0675868@u.nus.edu) and Ms. Divya D Kulkarni, (</a:t>
            </a:r>
            <a:r>
              <a:rPr lang="en-US" sz="1400" b="1" dirty="0">
                <a:solidFill>
                  <a:srgbClr val="00B05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e0974142@u.nus.edu</a:t>
            </a:r>
            <a:r>
              <a:rPr lang="en-US" sz="1400" b="1" dirty="0">
                <a:solidFill>
                  <a:srgbClr val="00B050"/>
                </a:solidFill>
              </a:rPr>
              <a:t>)</a:t>
            </a:r>
          </a:p>
          <a:p>
            <a:pPr marL="0" indent="0">
              <a:buClr>
                <a:srgbClr val="00B050"/>
              </a:buClr>
              <a:buSzPts val="2600"/>
            </a:pPr>
            <a:r>
              <a:rPr lang="en-US" altLang="zh-CN" sz="1400" b="1" dirty="0">
                <a:solidFill>
                  <a:srgbClr val="00B050"/>
                </a:solidFill>
              </a:rPr>
              <a:t>Prepared by:  </a:t>
            </a:r>
            <a:r>
              <a:rPr lang="en-GB" altLang="zh-CN" sz="1400" b="1" dirty="0">
                <a:solidFill>
                  <a:srgbClr val="00B050"/>
                </a:solidFill>
              </a:rPr>
              <a:t>Ms. Anum </a:t>
            </a:r>
            <a:r>
              <a:rPr lang="en-GB" altLang="zh-CN" sz="1400" b="1" dirty="0" err="1">
                <a:solidFill>
                  <a:srgbClr val="00B050"/>
                </a:solidFill>
              </a:rPr>
              <a:t>Talpur</a:t>
            </a:r>
            <a:r>
              <a:rPr lang="en-GB" altLang="zh-CN" sz="1400" b="1" dirty="0">
                <a:solidFill>
                  <a:srgbClr val="00B050"/>
                </a:solidFill>
              </a:rPr>
              <a:t> </a:t>
            </a:r>
            <a:r>
              <a:rPr lang="en-US" altLang="zh-CN" sz="1400" b="1" dirty="0">
                <a:solidFill>
                  <a:srgbClr val="00B050"/>
                </a:solidFill>
              </a:rPr>
              <a:t>(Ex-Graduate Assistant)</a:t>
            </a:r>
            <a:r>
              <a:rPr lang="en-US" sz="1400" b="1" dirty="0">
                <a:solidFill>
                  <a:srgbClr val="00B050"/>
                </a:solidFill>
              </a:rPr>
              <a:t> </a:t>
            </a:r>
            <a:endParaRPr sz="1400" b="1" dirty="0">
              <a:solidFill>
                <a:srgbClr val="00B05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600"/>
              <a:buNone/>
            </a:pPr>
            <a:r>
              <a:rPr lang="en-US" sz="1400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Lecturer: Assoc. Prof. Mohan </a:t>
            </a:r>
            <a:r>
              <a:rPr lang="en-US" sz="1400" b="1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Gurusamy</a:t>
            </a:r>
            <a:endParaRPr sz="14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600"/>
              <a:buNone/>
            </a:pPr>
            <a:r>
              <a:rPr lang="en-US" sz="1400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ECE Department, CDE., National University of Singapore</a:t>
            </a:r>
            <a:endParaRPr sz="1400" b="1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400" b="1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Mininet is a </a:t>
            </a:r>
            <a:r>
              <a:rPr lang="en-US">
                <a:solidFill>
                  <a:schemeClr val="accent1"/>
                </a:solidFill>
              </a:rPr>
              <a:t>network emulator </a:t>
            </a:r>
            <a:r>
              <a:rPr lang="en-US"/>
              <a:t>for prototyping a large network on a single machine.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a </a:t>
            </a:r>
            <a:r>
              <a:rPr lang="en-US">
                <a:solidFill>
                  <a:schemeClr val="accent1"/>
                </a:solidFill>
              </a:rPr>
              <a:t>virtual environment </a:t>
            </a:r>
            <a:r>
              <a:rPr lang="en-US"/>
              <a:t>that allows network administrators to </a:t>
            </a:r>
            <a:r>
              <a:rPr lang="en-US">
                <a:solidFill>
                  <a:schemeClr val="accent1"/>
                </a:solidFill>
              </a:rPr>
              <a:t>experiment</a:t>
            </a:r>
            <a:r>
              <a:rPr lang="en-US"/>
              <a:t> and run a collection of </a:t>
            </a:r>
            <a:r>
              <a:rPr lang="en-US">
                <a:solidFill>
                  <a:schemeClr val="accent1"/>
                </a:solidFill>
              </a:rPr>
              <a:t>network devices </a:t>
            </a:r>
            <a:r>
              <a:rPr lang="en-US"/>
              <a:t>on a Linux kernel, such as routers, switches, and other related network devices.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Mininet is used to design </a:t>
            </a:r>
            <a:r>
              <a:rPr lang="en-US">
                <a:solidFill>
                  <a:schemeClr val="accent1"/>
                </a:solidFill>
              </a:rPr>
              <a:t>simple</a:t>
            </a:r>
            <a:r>
              <a:rPr lang="en-US"/>
              <a:t> as well as </a:t>
            </a:r>
            <a:r>
              <a:rPr lang="en-US">
                <a:solidFill>
                  <a:schemeClr val="accent1"/>
                </a:solidFill>
              </a:rPr>
              <a:t>complex</a:t>
            </a:r>
            <a:r>
              <a:rPr lang="en-US"/>
              <a:t> custom-defined topologies. 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Mininet offers a </a:t>
            </a:r>
            <a:r>
              <a:rPr lang="en-US">
                <a:solidFill>
                  <a:schemeClr val="accent1"/>
                </a:solidFill>
              </a:rPr>
              <a:t>user-friendly</a:t>
            </a:r>
            <a:r>
              <a:rPr lang="en-US"/>
              <a:t> environment for development and research and allows users to deploy custom networks through the </a:t>
            </a:r>
            <a:r>
              <a:rPr lang="en-US">
                <a:solidFill>
                  <a:schemeClr val="accent1"/>
                </a:solidFill>
              </a:rPr>
              <a:t>CLI</a:t>
            </a:r>
            <a:r>
              <a:rPr lang="en-US"/>
              <a:t> and/or </a:t>
            </a:r>
            <a:r>
              <a:rPr lang="en-US">
                <a:solidFill>
                  <a:schemeClr val="accent1"/>
                </a:solidFill>
              </a:rPr>
              <a:t>GUI</a:t>
            </a:r>
            <a:r>
              <a:rPr lang="en-US"/>
              <a:t> interfaces.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body" idx="1"/>
          </p:nvPr>
        </p:nvSpPr>
        <p:spPr>
          <a:xfrm>
            <a:off x="649348" y="557784"/>
            <a:ext cx="3505494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Mininet is an open-source project</a:t>
            </a:r>
            <a:endParaRPr sz="2000"/>
          </a:p>
        </p:txBody>
      </p:sp>
      <p:sp>
        <p:nvSpPr>
          <p:cNvPr id="102" name="Google Shape;102;p3"/>
          <p:cNvSpPr/>
          <p:nvPr/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C8CAC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t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3" descr="A screenshot of a computer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2320" y="1388329"/>
            <a:ext cx="6241626" cy="422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/>
        </p:nvSpPr>
        <p:spPr>
          <a:xfrm>
            <a:off x="5209885" y="1018997"/>
            <a:ext cx="60977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https://github.com/mininet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49348" y="557784"/>
            <a:ext cx="3505494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Mininet help</a:t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C8CAC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t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5327421" y="1018998"/>
            <a:ext cx="60977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http://mininet.org/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2912" y="1435106"/>
            <a:ext cx="5906790" cy="4118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648928" y="338328"/>
            <a:ext cx="3685032" cy="160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Mininet Interface</a:t>
            </a:r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1"/>
          </p:nvPr>
        </p:nvSpPr>
        <p:spPr>
          <a:xfrm>
            <a:off x="648928" y="1305336"/>
            <a:ext cx="6675627" cy="558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CLI and GUI (demo)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C8CAC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t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5" descr="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690" y="2742397"/>
            <a:ext cx="4607316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C8CAC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t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5" descr="Graphical user interface, application, Wor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6484" y="2815183"/>
            <a:ext cx="4974336" cy="3146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a Network </a:t>
            </a:r>
            <a:endParaRPr/>
          </a:p>
        </p:txBody>
      </p:sp>
      <p:sp>
        <p:nvSpPr>
          <p:cNvPr id="134" name="Google Shape;13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model a network, we need </a:t>
            </a:r>
            <a:r>
              <a:rPr lang="en-US">
                <a:solidFill>
                  <a:schemeClr val="accent1"/>
                </a:solidFill>
              </a:rPr>
              <a:t>hosts</a:t>
            </a:r>
            <a:r>
              <a:rPr lang="en-US"/>
              <a:t>, </a:t>
            </a:r>
            <a:r>
              <a:rPr lang="en-US">
                <a:solidFill>
                  <a:schemeClr val="accent1"/>
                </a:solidFill>
              </a:rPr>
              <a:t>switches</a:t>
            </a:r>
            <a:r>
              <a:rPr lang="en-US"/>
              <a:t>, </a:t>
            </a:r>
            <a:r>
              <a:rPr lang="en-US">
                <a:solidFill>
                  <a:schemeClr val="accent1"/>
                </a:solidFill>
              </a:rPr>
              <a:t>links</a:t>
            </a:r>
            <a:r>
              <a:rPr lang="en-US"/>
              <a:t>, and network </a:t>
            </a:r>
            <a:r>
              <a:rPr lang="en-US">
                <a:solidFill>
                  <a:schemeClr val="accent1"/>
                </a:solidFill>
              </a:rPr>
              <a:t>controllers</a:t>
            </a:r>
            <a:r>
              <a:rPr lang="en-US"/>
              <a:t> (for SDN/OpenFlow.)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Lets start with a simple network, (demo)</a:t>
            </a:r>
            <a:endParaRPr/>
          </a:p>
        </p:txBody>
      </p:sp>
      <p:pic>
        <p:nvPicPr>
          <p:cNvPr id="135" name="Google Shape;135;p6" descr="FS 8-Port Gigabit Switch with 8x Gigabit RJ45 - FS Singapore"/>
          <p:cNvPicPr preferRelativeResize="0"/>
          <p:nvPr/>
        </p:nvPicPr>
        <p:blipFill rotWithShape="1">
          <a:blip r:embed="rId3">
            <a:alphaModFix/>
          </a:blip>
          <a:srcRect l="11072" t="27973" r="7861" b="22658"/>
          <a:stretch/>
        </p:blipFill>
        <p:spPr>
          <a:xfrm>
            <a:off x="4413955" y="3942997"/>
            <a:ext cx="2404533" cy="1464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6" descr="Computers - Vector stencils library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87355" y="4011568"/>
            <a:ext cx="1306689" cy="1306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 descr="Computers - Vector stencils library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8399" y="4021843"/>
            <a:ext cx="1306689" cy="13066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6"/>
          <p:cNvCxnSpPr>
            <a:stCxn id="137" idx="3"/>
            <a:endCxn id="135" idx="1"/>
          </p:cNvCxnSpPr>
          <p:nvPr/>
        </p:nvCxnSpPr>
        <p:spPr>
          <a:xfrm>
            <a:off x="3745088" y="4675188"/>
            <a:ext cx="669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39" name="Google Shape;139;p6"/>
          <p:cNvCxnSpPr>
            <a:stCxn id="135" idx="3"/>
            <a:endCxn id="136" idx="1"/>
          </p:cNvCxnSpPr>
          <p:nvPr/>
        </p:nvCxnSpPr>
        <p:spPr>
          <a:xfrm rot="10800000" flipH="1">
            <a:off x="6818488" y="4664988"/>
            <a:ext cx="669000" cy="10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40" name="Google Shape;140;p6"/>
          <p:cNvSpPr txBox="1"/>
          <p:nvPr/>
        </p:nvSpPr>
        <p:spPr>
          <a:xfrm>
            <a:off x="5006621" y="5180230"/>
            <a:ext cx="1219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2405943" y="5198749"/>
            <a:ext cx="1219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7553677" y="5180230"/>
            <a:ext cx="12192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Host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CLI</a:t>
            </a:r>
            <a:endParaRPr/>
          </a:p>
        </p:txBody>
      </p:sp>
      <p:sp>
        <p:nvSpPr>
          <p:cNvPr id="149" name="Google Shape;149;p7"/>
          <p:cNvSpPr txBox="1">
            <a:spLocks noGrp="1"/>
          </p:cNvSpPr>
          <p:nvPr>
            <p:ph type="body" idx="1"/>
          </p:nvPr>
        </p:nvSpPr>
        <p:spPr>
          <a:xfrm>
            <a:off x="648931" y="2438400"/>
            <a:ext cx="3505494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sudo mn --topo single,2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150" name="Google Shape;150;p7"/>
          <p:cNvSpPr/>
          <p:nvPr/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C8CAC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t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7" descr="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15805"/>
          <a:stretch/>
        </p:blipFill>
        <p:spPr>
          <a:xfrm>
            <a:off x="5405862" y="1970334"/>
            <a:ext cx="6019331" cy="2914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GUI</a:t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C8CAC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t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8" descr="Diagram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5862" y="1320612"/>
            <a:ext cx="6019331" cy="4213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66" name="Google Shape;166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https://github.com/mininet</a:t>
            </a:r>
            <a:r>
              <a:rPr lang="en-US"/>
              <a:t> - Code</a:t>
            </a:r>
            <a:endParaRPr u="sng">
              <a:solidFill>
                <a:schemeClr val="hlink"/>
              </a:solidFill>
              <a:hlinkClick r:id="rId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https://github.com/mininet/mininet/wiki/Videos</a:t>
            </a:r>
            <a:r>
              <a:rPr lang="en-US"/>
              <a:t> - Videos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http://mininet.org/</a:t>
            </a:r>
            <a:r>
              <a:rPr lang="en-US"/>
              <a:t> -  Basics and Installation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Office PowerPoint</Application>
  <PresentationFormat>宽屏</PresentationFormat>
  <Paragraphs>39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Merriweather Sans</vt:lpstr>
      <vt:lpstr>Calibri</vt:lpstr>
      <vt:lpstr>Arial</vt:lpstr>
      <vt:lpstr>Office Theme</vt:lpstr>
      <vt:lpstr>Lab 01 Introduction to Mininet</vt:lpstr>
      <vt:lpstr>Introduction</vt:lpstr>
      <vt:lpstr>PowerPoint 演示文稿</vt:lpstr>
      <vt:lpstr>PowerPoint 演示文稿</vt:lpstr>
      <vt:lpstr>Mininet Interface</vt:lpstr>
      <vt:lpstr>Creating a Network </vt:lpstr>
      <vt:lpstr>CLI</vt:lpstr>
      <vt:lpstr>GUI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01 Introduction to Mininet</dc:title>
  <dc:creator>Anum Talpur</dc:creator>
  <cp:lastModifiedBy>binghui wu</cp:lastModifiedBy>
  <cp:revision>1</cp:revision>
  <dcterms:created xsi:type="dcterms:W3CDTF">2022-09-30T04:32:35Z</dcterms:created>
  <dcterms:modified xsi:type="dcterms:W3CDTF">2023-10-17T11:47:04Z</dcterms:modified>
</cp:coreProperties>
</file>