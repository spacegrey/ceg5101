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73" r:id="rId4"/>
    <p:sldId id="257" r:id="rId5"/>
    <p:sldId id="272" r:id="rId6"/>
    <p:sldId id="258" r:id="rId7"/>
    <p:sldId id="266" r:id="rId8"/>
    <p:sldId id="274" r:id="rId9"/>
    <p:sldId id="267" r:id="rId10"/>
    <p:sldId id="271" r:id="rId11"/>
    <p:sldId id="275" r:id="rId12"/>
    <p:sldId id="269" r:id="rId13"/>
    <p:sldId id="270" r:id="rId14"/>
    <p:sldId id="27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22"/>
    <p:restoredTop sz="89877"/>
  </p:normalViewPr>
  <p:slideViewPr>
    <p:cSldViewPr snapToGrid="0">
      <p:cViewPr varScale="1">
        <p:scale>
          <a:sx n="109" d="100"/>
          <a:sy n="109" d="100"/>
        </p:scale>
        <p:origin x="55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57D05-F40E-FC41-B43E-1A0A0C51DFE8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185D2-F5E8-0C4A-A0C1-228AE5518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7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servervirtualization.techtarget.com/tip/Get-to-know-VM-networking-basic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Open vSwitch offers a strong service for controlling </a:t>
            </a:r>
            <a:r>
              <a:rPr lang="en-SG" b="0" i="0" u="sng" dirty="0">
                <a:solidFill>
                  <a:srgbClr val="007CAD"/>
                </a:solidFill>
                <a:effectLst/>
                <a:latin typeface="Arial" panose="020B0604020202020204" pitchFamily="34" charset="0"/>
                <a:hlinkClick r:id="rId3"/>
              </a:rPr>
              <a:t>network connections between VMs</a:t>
            </a:r>
            <a:r>
              <a:rPr lang="en-SG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 running in highly dynamic, </a:t>
            </a:r>
            <a:r>
              <a:rPr lang="en-SG" b="0" i="0" u="none" strike="noStrike" dirty="0" err="1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multiserver</a:t>
            </a:r>
            <a:r>
              <a:rPr lang="en-SG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 environments such as the cloud. With Open vSwitch, admins get a network control system that can respond and adapt to their systems as they change.</a:t>
            </a:r>
          </a:p>
          <a:p>
            <a:endParaRPr lang="en-SG" b="0" i="0" u="none" strike="noStrike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r>
              <a:rPr lang="en-SG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Given its widespread use, it is worth obtaining a basic understanding of Open vSwitch, especially for those working with virtualization and cloud technologies.</a:t>
            </a:r>
          </a:p>
          <a:p>
            <a:endParaRPr lang="en-SG" b="0" i="0" u="none" strike="noStrike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r>
              <a:rPr lang="en-SG" b="0" i="0" u="none" strike="noStrike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Open vSwitch is a Linux Foundation collaborative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185D2-F5E8-0C4A-A0C1-228AE55180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05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SG" b="0" i="0" u="none" strike="noStrike" dirty="0">
                <a:solidFill>
                  <a:srgbClr val="232629"/>
                </a:solidFill>
                <a:effectLst/>
                <a:latin typeface="inherit"/>
              </a:rPr>
              <a:t>If the OVS fail mode is set to "secure", the switch will only forward packets according to how its flow table is currently programmed. If a packet does not match any flow, it will be dropped.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SG" b="0" i="0" u="none" strike="noStrike">
                <a:solidFill>
                  <a:srgbClr val="232629"/>
                </a:solidFill>
                <a:effectLst/>
                <a:latin typeface="inherit"/>
              </a:rPr>
              <a:t>If the OVS fail mode is set to "standalone", the switch will mimic a learning switch and forward packets automatically between switch ports.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185D2-F5E8-0C4A-A0C1-228AE55180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185D2-F5E8-0C4A-A0C1-228AE55180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18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185D2-F5E8-0C4A-A0C1-228AE55180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8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185D2-F5E8-0C4A-A0C1-228AE55180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8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B347-C0A4-728F-7003-404E3DDA5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C53E-0423-6F04-EB81-89AF0682C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2F5F-2547-B160-8B7F-6B25721D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2C9A4-2BBC-E727-7C3E-ABFF48E2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CD4D7-E61F-D41E-7CD4-A3872B2E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5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0013-11CF-0CE2-5A6D-64381079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3538-3675-C163-8249-24F9D7AF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682D-BA30-907E-4DA9-F5371422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1D5A1-30F2-117E-5CC6-AC259A8A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84D4F-EA66-E234-EA02-08D684C5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4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72F5-70C1-CA5B-A979-6F7F4DEB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3F444-F21C-EC95-9559-28069F16F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8E774-4A91-2B51-9ABD-572D05BE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A0E1B-B9D4-1B30-4E4D-6F7A4E16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C4537-FB61-7BA4-CAE4-941C98C3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9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DC85-C674-B468-1EFC-1C681962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939C-A525-6E08-1683-D7174C922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7C48D-24DE-C70B-5494-1D5EE1910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7D4AD-AD6E-7BB2-5336-FEC76F0D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49263-CE03-3E4A-907F-C7F5AEA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C443E-4313-B866-899A-B469D5C0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6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4E15C-96A4-C0A0-3E98-D66581F1D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89A06-BCA9-A980-C733-D3639D110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A693E-783F-6660-FD13-2E737329A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D96DF-9FBE-008A-5412-3B194F46F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49679B-957A-753F-1A0A-FA11AC1AB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E1017-5CA0-3029-53A9-32719542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B2ED8-4B6E-5D18-18F1-66FCFB0F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D941B7-53B8-4B99-61DA-52F19ACF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1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BEFC-0A0B-D067-1D51-B6653638D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B8728-EDF9-D29B-0CE5-437254C2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F888E-4920-C7BB-27C9-6F8DD311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CAFB0-B903-B60C-F555-66D12373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A4C0A-8B95-EC3B-F5B7-2F025731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ABC85-6D5C-F26B-284D-621E8E75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CDAD6-8868-B3DF-7076-B085368D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7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A9E7-6426-4EAE-5F49-5E801372E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A1A4B-34BE-9629-9620-98E1A7E7E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935B8-8CEB-D792-B57C-546A75E8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A7273-F0B6-367F-1998-D15D7F01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67639-794C-CAB7-FADF-5CF8348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C6E23-19F9-762F-3F53-7F225CC2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0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913D-4006-9E9A-4CB0-FD8AAF5D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55216-3334-B338-1B9A-7A0EA59BF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6E6DE-A12C-74DA-CF3B-A00F0156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EF514-4BC0-A17B-4C7F-419403CB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07004-D1DD-159C-D20A-9D5AAEB7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E651D-BBE5-08A8-1ECC-A9062ABC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2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67DD-3014-9826-DB89-47E41D2D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E6603-B03B-63BD-5DDC-DA8FFB72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6680-4455-E176-C3BE-B66EDD3D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566B9-7984-A780-50B3-D0C973F8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BB4B9-9DF7-50DC-CEFE-2991A081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6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EE4E7-0D14-5FB2-8E1C-D511D497D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6597D-A0ED-C8D9-C978-ED622F34B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610AB-E877-6928-3D06-B2D6C1A1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142F5-D2CA-EDED-8E73-08451095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A12CB-44E8-4547-5246-588C3F8A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1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D7345-0245-C78E-9BF5-E187C3A3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C29C7-FEFA-AC18-E6AF-1CBC8B14B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CEDB7-92FE-8AD8-7E92-F80672DA8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6E527-8F89-72DE-8F32-F03427E02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59102-9A89-ED82-03F9-CA67B1D81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0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vswitch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mininet.org/" TargetMode="External"/><Relationship Id="rId2" Type="http://schemas.openxmlformats.org/officeDocument/2006/relationships/hyperlink" Target="https://www.openvswitch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penvswitch.org/support/dist-docs/ovs-ofctl.8.t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06A2-84A7-6318-D6BB-C1C74E411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02</a:t>
            </a:r>
            <a:br>
              <a:rPr lang="en-US" dirty="0"/>
            </a:br>
            <a:r>
              <a:rPr lang="en-US" sz="4800" dirty="0"/>
              <a:t>Open Virtual Switch (Open vSwitch)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3928A-54B4-CFDA-A7D8-D562380DD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575" y="3742250"/>
            <a:ext cx="9638713" cy="2088807"/>
          </a:xfrm>
        </p:spPr>
        <p:txBody>
          <a:bodyPr>
            <a:normAutofit fontScale="70000" lnSpcReduction="20000"/>
          </a:bodyPr>
          <a:lstStyle/>
          <a:p>
            <a:pPr algn="ctr"/>
            <a:endParaRPr lang="en-GB" sz="2600" b="1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CEG5101 Modern Computer Networking</a:t>
            </a:r>
            <a:endParaRPr lang="en-SG" sz="23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Graduate Assistant:</a:t>
            </a:r>
            <a:r>
              <a:rPr lang="en-US" altLang="zh-CN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Mr. Binghui Wu (e0675868@u.nus.edu) and Ms. Divya D Kulkarni,</a:t>
            </a:r>
            <a:r>
              <a:rPr lang="en-US" altLang="zh-CN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 (</a:t>
            </a:r>
            <a:r>
              <a:rPr lang="en-US" altLang="zh-CN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e0974142</a:t>
            </a:r>
            <a:r>
              <a:rPr lang="en-US" altLang="zh-CN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@u.nus.edu)</a:t>
            </a:r>
            <a:r>
              <a:rPr lang="en-GB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CN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 Ms. Anum </a:t>
            </a:r>
            <a:r>
              <a:rPr lang="en-US" altLang="zh-CN" sz="2300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Talpur</a:t>
            </a:r>
            <a:r>
              <a:rPr lang="en-US" altLang="zh-CN" sz="23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(Ex-Graduate Assistant) </a:t>
            </a:r>
            <a:endParaRPr lang="en-GB" sz="23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3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Lecturer: Assoc. Prof. Mohan Gurusamy</a:t>
            </a:r>
            <a:endParaRPr lang="en-SG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3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ECE Department, CDE., National University of </a:t>
            </a:r>
            <a:r>
              <a:rPr lang="en-GB" sz="23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Singapor</a:t>
            </a:r>
            <a:r>
              <a:rPr lang="en-US" altLang="zh-CN" sz="23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US" sz="2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2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To become familiar with Open vSwitch and its basic operation </a:t>
            </a:r>
          </a:p>
          <a:p>
            <a:r>
              <a:rPr lang="en-SG" dirty="0"/>
              <a:t>To implement Open vSwitch flow tables </a:t>
            </a:r>
          </a:p>
          <a:p>
            <a:r>
              <a:rPr lang="en-SG" dirty="0"/>
              <a:t>To enable traffic forwarding using layer 3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3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>
                <a:solidFill>
                  <a:schemeClr val="accent1"/>
                </a:solidFill>
              </a:rPr>
              <a:t>To become familiar with Open vSwitch and its basic operation </a:t>
            </a:r>
          </a:p>
          <a:p>
            <a:r>
              <a:rPr lang="en-SG" dirty="0"/>
              <a:t>To implement Open vSwitch flow tables </a:t>
            </a:r>
          </a:p>
          <a:p>
            <a:r>
              <a:rPr lang="en-SG" dirty="0"/>
              <a:t>To enable traffic forwarding using layer 3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3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F476-4642-C198-F7FC-22EDBDF7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F3FE4-084D-5E27-925E-71FA0C7E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SG" dirty="0"/>
              <a:t>Open vSwitch, abbreviated as </a:t>
            </a:r>
            <a:r>
              <a:rPr lang="en-SG" dirty="0">
                <a:solidFill>
                  <a:schemeClr val="accent1"/>
                </a:solidFill>
              </a:rPr>
              <a:t>OVS</a:t>
            </a:r>
            <a:r>
              <a:rPr lang="en-SG" dirty="0"/>
              <a:t>, is a virtual multilayer switch</a:t>
            </a:r>
          </a:p>
          <a:p>
            <a:pPr algn="just"/>
            <a:r>
              <a:rPr lang="en-SG" dirty="0"/>
              <a:t>Working with </a:t>
            </a:r>
            <a:r>
              <a:rPr lang="en-SG" dirty="0">
                <a:solidFill>
                  <a:schemeClr val="accent1"/>
                </a:solidFill>
              </a:rPr>
              <a:t>virtualization</a:t>
            </a:r>
            <a:r>
              <a:rPr lang="en-SG" dirty="0"/>
              <a:t> and </a:t>
            </a:r>
            <a:r>
              <a:rPr lang="en-SG" dirty="0">
                <a:solidFill>
                  <a:schemeClr val="accent1"/>
                </a:solidFill>
              </a:rPr>
              <a:t>cloud</a:t>
            </a:r>
            <a:r>
              <a:rPr lang="en-SG" dirty="0"/>
              <a:t> technologies</a:t>
            </a:r>
          </a:p>
          <a:p>
            <a:pPr algn="just"/>
            <a:r>
              <a:rPr lang="en-SG" dirty="0"/>
              <a:t>Used in</a:t>
            </a:r>
            <a:r>
              <a:rPr lang="en-SG" dirty="0">
                <a:solidFill>
                  <a:schemeClr val="accent1"/>
                </a:solidFill>
              </a:rPr>
              <a:t> virtual management system </a:t>
            </a:r>
            <a:r>
              <a:rPr lang="en-SG" dirty="0"/>
              <a:t>to enable network automation through programmatic extension</a:t>
            </a:r>
          </a:p>
          <a:p>
            <a:pPr algn="just"/>
            <a:r>
              <a:rPr lang="en-SG" dirty="0"/>
              <a:t>Service for </a:t>
            </a:r>
            <a:r>
              <a:rPr lang="en-SG" dirty="0">
                <a:solidFill>
                  <a:schemeClr val="accent1"/>
                </a:solidFill>
              </a:rPr>
              <a:t>controlling</a:t>
            </a:r>
            <a:r>
              <a:rPr lang="en-SG" dirty="0"/>
              <a:t> network connections between </a:t>
            </a:r>
            <a:r>
              <a:rPr lang="en-SG" dirty="0">
                <a:solidFill>
                  <a:schemeClr val="accent1"/>
                </a:solidFill>
              </a:rPr>
              <a:t>virtual machines </a:t>
            </a:r>
            <a:r>
              <a:rPr lang="en-SG" dirty="0"/>
              <a:t>(VMs) </a:t>
            </a:r>
          </a:p>
          <a:p>
            <a:pPr algn="just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5F5D2-1D10-EF05-C7F0-53A084BC65E0}"/>
              </a:ext>
            </a:extLst>
          </p:cNvPr>
          <p:cNvSpPr txBox="1"/>
          <p:nvPr/>
        </p:nvSpPr>
        <p:spPr>
          <a:xfrm>
            <a:off x="152400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www.openvswitch.org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2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97F6-59D0-35BD-33FE-3D07DF0B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73C3-AF7A-6C9D-D92B-FEC358BC8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0" u="sng" dirty="0">
                <a:solidFill>
                  <a:schemeClr val="accent1">
                    <a:lumMod val="75000"/>
                  </a:schemeClr>
                </a:solidFill>
              </a:rPr>
              <a:t>Legacy Switch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72C15-2303-9874-0678-D2CD5AA44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0" u="sng" dirty="0">
                <a:solidFill>
                  <a:schemeClr val="accent1">
                    <a:lumMod val="75000"/>
                  </a:schemeClr>
                </a:solidFill>
              </a:rPr>
              <a:t>Open vSwitch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52AFD-5BDF-06E8-15F3-EB3F15B6AF8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Secure fail-mode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032200F-8D2C-C950-1E59-B67373B595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Standalone fail-mode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27CC1B-7213-C7D8-2B2F-2375B8F645A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722" y="3271629"/>
            <a:ext cx="2375918" cy="23409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09D627-7B21-D4F7-C832-DA619AABD89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12472" y="3429000"/>
            <a:ext cx="2102644" cy="244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0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SG" sz="2000" dirty="0">
                <a:solidFill>
                  <a:schemeClr val="accent1"/>
                </a:solidFill>
              </a:rPr>
              <a:t>To become familiar with Open vSwitch and its basic operation </a:t>
            </a:r>
          </a:p>
          <a:p>
            <a:r>
              <a:rPr lang="en-SG" sz="2000" dirty="0"/>
              <a:t>To implement Open vSwitch flow tables </a:t>
            </a:r>
          </a:p>
          <a:p>
            <a:r>
              <a:rPr lang="en-SG" sz="2000" dirty="0"/>
              <a:t>To Enable traffic forwarding using layer 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r>
              <a:rPr lang="en-SG" sz="2400" dirty="0"/>
              <a:t>Assign 10.0.0.1/8 and 10.0.0.2/8 to host h1 and h2, respectively</a:t>
            </a:r>
          </a:p>
          <a:p>
            <a:pPr algn="just"/>
            <a:r>
              <a:rPr lang="en-SG" sz="2400" dirty="0"/>
              <a:t>Run the network 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DCEB46-2BC0-020A-9E1F-702C29044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087" y="1174366"/>
            <a:ext cx="2868202" cy="88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SG" sz="2000" dirty="0">
                <a:solidFill>
                  <a:schemeClr val="accent1"/>
                </a:solidFill>
              </a:rPr>
              <a:t>To become familiar with Open vSwitch and its basic operation </a:t>
            </a:r>
          </a:p>
          <a:p>
            <a:r>
              <a:rPr lang="en-SG" sz="2000" dirty="0"/>
              <a:t>To implement Open vSwitch flow tables </a:t>
            </a:r>
          </a:p>
          <a:p>
            <a:r>
              <a:rPr lang="en-SG" sz="2000" dirty="0"/>
              <a:t>To Enable traffic forwarding using layer 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r>
              <a:rPr lang="en-SG" sz="2400" dirty="0"/>
              <a:t>check the installed version of Open vSwitch</a:t>
            </a:r>
          </a:p>
          <a:p>
            <a:pPr lvl="1" algn="just"/>
            <a:r>
              <a:rPr lang="en-SG" sz="2000" dirty="0" err="1"/>
              <a:t>sudo</a:t>
            </a:r>
            <a:r>
              <a:rPr lang="en-SG" sz="2000" dirty="0"/>
              <a:t> </a:t>
            </a:r>
            <a:r>
              <a:rPr lang="en-SG" sz="2000" dirty="0" err="1"/>
              <a:t>ovs-vsctl</a:t>
            </a:r>
            <a:r>
              <a:rPr lang="en-SG" sz="2000" dirty="0"/>
              <a:t> </a:t>
            </a:r>
            <a:r>
              <a:rPr lang="en-SG" sz="2000" dirty="0">
                <a:solidFill>
                  <a:srgbClr val="FF0000"/>
                </a:solidFill>
              </a:rPr>
              <a:t>-V</a:t>
            </a:r>
            <a:r>
              <a:rPr lang="en-SG" sz="2000" dirty="0"/>
              <a:t> </a:t>
            </a:r>
          </a:p>
          <a:p>
            <a:pPr algn="just"/>
            <a:r>
              <a:rPr lang="en-SG" sz="2400" dirty="0"/>
              <a:t>list all active Open vSwitches </a:t>
            </a:r>
          </a:p>
          <a:p>
            <a:pPr lvl="1" algn="just"/>
            <a:r>
              <a:rPr lang="en-SG" sz="2000" dirty="0" err="1"/>
              <a:t>sudo</a:t>
            </a:r>
            <a:r>
              <a:rPr lang="en-SG" sz="2000" dirty="0"/>
              <a:t> </a:t>
            </a:r>
            <a:r>
              <a:rPr lang="en-SG" sz="2000" dirty="0" err="1"/>
              <a:t>ovs-vsctl</a:t>
            </a:r>
            <a:r>
              <a:rPr lang="en-SG" sz="2000" dirty="0"/>
              <a:t> </a:t>
            </a:r>
            <a:r>
              <a:rPr lang="en-SG" sz="2000" dirty="0">
                <a:solidFill>
                  <a:srgbClr val="FF0000"/>
                </a:solidFill>
              </a:rPr>
              <a:t>list-</a:t>
            </a:r>
            <a:r>
              <a:rPr lang="en-SG" sz="2000" dirty="0" err="1">
                <a:solidFill>
                  <a:srgbClr val="FF0000"/>
                </a:solidFill>
              </a:rPr>
              <a:t>br</a:t>
            </a:r>
            <a:r>
              <a:rPr lang="en-SG" sz="2000" dirty="0"/>
              <a:t> </a:t>
            </a:r>
          </a:p>
          <a:p>
            <a:pPr algn="just"/>
            <a:endParaRPr lang="en-SG" sz="2400" dirty="0"/>
          </a:p>
          <a:p>
            <a:pPr algn="just"/>
            <a:r>
              <a:rPr lang="en-SG" sz="2400" dirty="0"/>
              <a:t>Verify connectivity</a:t>
            </a:r>
          </a:p>
          <a:p>
            <a:pPr algn="just"/>
            <a:endParaRPr lang="en-SG" sz="2400" dirty="0"/>
          </a:p>
          <a:p>
            <a:pPr algn="just"/>
            <a:r>
              <a:rPr lang="en-SG" sz="2400" dirty="0">
                <a:solidFill>
                  <a:srgbClr val="FF0000"/>
                </a:solidFill>
              </a:rPr>
              <a:t>Not working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DCEB46-2BC0-020A-9E1F-702C2904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087" y="1174366"/>
            <a:ext cx="2868202" cy="881447"/>
          </a:xfrm>
          <a:prstGeom prst="rect">
            <a:avLst/>
          </a:prstGeom>
        </p:spPr>
      </p:pic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A3F6333-F75E-C198-ABBD-0824A77B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255" y="4131427"/>
            <a:ext cx="2868202" cy="2037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56B97A-1A05-500C-404F-6473880385FB}"/>
              </a:ext>
            </a:extLst>
          </p:cNvPr>
          <p:cNvSpPr txBox="1"/>
          <p:nvPr/>
        </p:nvSpPr>
        <p:spPr>
          <a:xfrm>
            <a:off x="9546937" y="2825829"/>
            <a:ext cx="16469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ovs-vsctl</a:t>
            </a:r>
            <a:r>
              <a:rPr lang="en-SG" sz="140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is </a:t>
            </a:r>
            <a:r>
              <a:rPr lang="en-SG" sz="1400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ovs-vswitched</a:t>
            </a:r>
            <a:r>
              <a:rPr lang="en-SG" sz="140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management utility</a:t>
            </a:r>
            <a:r>
              <a:rPr lang="en-SG" sz="1400" dirty="0">
                <a:solidFill>
                  <a:schemeClr val="accent6"/>
                </a:solidFill>
                <a:effectLst/>
              </a:rPr>
              <a:t> 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34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To become familiar with Open vSwitch and its basic operation </a:t>
            </a:r>
          </a:p>
          <a:p>
            <a:r>
              <a:rPr lang="en-SG" dirty="0">
                <a:solidFill>
                  <a:schemeClr val="accent1"/>
                </a:solidFill>
              </a:rPr>
              <a:t>To implement Open vSwitch flow tables </a:t>
            </a:r>
          </a:p>
          <a:p>
            <a:r>
              <a:rPr lang="en-SG" dirty="0"/>
              <a:t>To enable traffic forwarding using layer 3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53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SG" sz="2000" dirty="0"/>
              <a:t>To become familiar with Open vSwitch and its basic operation </a:t>
            </a:r>
          </a:p>
          <a:p>
            <a:r>
              <a:rPr lang="en-SG" sz="2000" dirty="0">
                <a:solidFill>
                  <a:schemeClr val="accent1"/>
                </a:solidFill>
              </a:rPr>
              <a:t>To implement Open vSwitch flow tables </a:t>
            </a:r>
          </a:p>
          <a:p>
            <a:r>
              <a:rPr lang="en-SG" sz="2000" dirty="0"/>
              <a:t>To Enable traffic forwarding using layer 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r>
              <a:rPr lang="en-SG" dirty="0"/>
              <a:t>Task: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r>
              <a:rPr lang="en-SG" dirty="0"/>
              <a:t>Command:</a:t>
            </a:r>
          </a:p>
          <a:p>
            <a:pPr lvl="1" algn="just"/>
            <a:r>
              <a:rPr lang="en-SG" sz="1600" dirty="0" err="1"/>
              <a:t>sudo</a:t>
            </a:r>
            <a:r>
              <a:rPr lang="en-SG" sz="1600" dirty="0"/>
              <a:t> </a:t>
            </a:r>
            <a:r>
              <a:rPr lang="en-SG" sz="1600" dirty="0" err="1"/>
              <a:t>ovs-ofctl</a:t>
            </a:r>
            <a:r>
              <a:rPr lang="en-SG" sz="1600" dirty="0"/>
              <a:t> </a:t>
            </a:r>
            <a:r>
              <a:rPr lang="en-SG" sz="1600" dirty="0">
                <a:solidFill>
                  <a:srgbClr val="FF0000"/>
                </a:solidFill>
              </a:rPr>
              <a:t>[</a:t>
            </a:r>
            <a:r>
              <a:rPr lang="en-SG" sz="1600" u="sng" dirty="0">
                <a:solidFill>
                  <a:srgbClr val="FF0000"/>
                </a:solidFill>
              </a:rPr>
              <a:t>TASK]</a:t>
            </a:r>
            <a:r>
              <a:rPr lang="en-SG" sz="1600" dirty="0">
                <a:solidFill>
                  <a:srgbClr val="FF0000"/>
                </a:solidFill>
              </a:rPr>
              <a:t> [</a:t>
            </a:r>
            <a:r>
              <a:rPr lang="en-SG" sz="1600" u="sng" dirty="0">
                <a:solidFill>
                  <a:srgbClr val="FF0000"/>
                </a:solidFill>
              </a:rPr>
              <a:t>NAME_SWITCH]</a:t>
            </a:r>
            <a:r>
              <a:rPr lang="en-SG" sz="1600" dirty="0">
                <a:solidFill>
                  <a:srgbClr val="FF0000"/>
                </a:solidFill>
              </a:rPr>
              <a:t> [</a:t>
            </a:r>
            <a:r>
              <a:rPr lang="en-SG" sz="1600" u="sng" dirty="0">
                <a:solidFill>
                  <a:srgbClr val="FF0000"/>
                </a:solidFill>
              </a:rPr>
              <a:t>ACTION]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DCEB46-2BC0-020A-9E1F-702C2904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087" y="1174366"/>
            <a:ext cx="2868202" cy="881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19859-E906-E8A2-64F6-DC9EDE185B51}"/>
              </a:ext>
            </a:extLst>
          </p:cNvPr>
          <p:cNvSpPr txBox="1"/>
          <p:nvPr/>
        </p:nvSpPr>
        <p:spPr>
          <a:xfrm>
            <a:off x="9666834" y="5293147"/>
            <a:ext cx="1761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ovs-ofctl</a:t>
            </a:r>
            <a:r>
              <a:rPr lang="en-SG" sz="140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is monitoring and administering utility</a:t>
            </a:r>
            <a:endParaRPr lang="en-US" sz="1400" dirty="0">
              <a:solidFill>
                <a:schemeClr val="accent6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66D86E4-E8E6-1228-31AA-DE2AD0267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08320"/>
              </p:ext>
            </p:extLst>
          </p:nvPr>
        </p:nvGraphicFramePr>
        <p:xfrm>
          <a:off x="6558432" y="2721732"/>
          <a:ext cx="406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034">
                  <a:extLst>
                    <a:ext uri="{9D8B030D-6E8A-4147-A177-3AD203B41FA5}">
                      <a16:colId xmlns:a16="http://schemas.microsoft.com/office/drawing/2014/main" val="3897173574"/>
                    </a:ext>
                  </a:extLst>
                </a:gridCol>
                <a:gridCol w="2866966">
                  <a:extLst>
                    <a:ext uri="{9D8B030D-6E8A-4147-A177-3AD203B41FA5}">
                      <a16:colId xmlns:a16="http://schemas.microsoft.com/office/drawing/2014/main" val="3765712455"/>
                    </a:ext>
                  </a:extLst>
                </a:gridCol>
              </a:tblGrid>
              <a:tr h="288664">
                <a:tc>
                  <a:txBody>
                    <a:bodyPr/>
                    <a:lstStyle/>
                    <a:p>
                      <a:r>
                        <a:rPr lang="en-SG" sz="1400" dirty="0"/>
                        <a:t>dump-flows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List available 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79386"/>
                  </a:ext>
                </a:extLst>
              </a:tr>
              <a:tr h="191911">
                <a:tc>
                  <a:txBody>
                    <a:bodyPr/>
                    <a:lstStyle/>
                    <a:p>
                      <a:r>
                        <a:rPr lang="en-SG" sz="1400" dirty="0"/>
                        <a:t>add-flow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 flow within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906253"/>
                  </a:ext>
                </a:extLst>
              </a:tr>
              <a:tr h="222975">
                <a:tc>
                  <a:txBody>
                    <a:bodyPr/>
                    <a:lstStyle/>
                    <a:p>
                      <a:r>
                        <a:rPr lang="en-SG" sz="1400" dirty="0"/>
                        <a:t>del-flows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Delete flows from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556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2BC682-02E6-B380-9AD8-71DBE5396F6B}"/>
              </a:ext>
            </a:extLst>
          </p:cNvPr>
          <p:cNvSpPr txBox="1"/>
          <p:nvPr/>
        </p:nvSpPr>
        <p:spPr>
          <a:xfrm>
            <a:off x="7406050" y="50126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B8D025-0D13-667A-30AA-D07562565EF3}"/>
              </a:ext>
            </a:extLst>
          </p:cNvPr>
          <p:cNvSpPr txBox="1"/>
          <p:nvPr/>
        </p:nvSpPr>
        <p:spPr>
          <a:xfrm>
            <a:off x="8431685" y="50126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A25972-3436-483F-5C5C-EC3D47D09C50}"/>
              </a:ext>
            </a:extLst>
          </p:cNvPr>
          <p:cNvSpPr txBox="1"/>
          <p:nvPr/>
        </p:nvSpPr>
        <p:spPr>
          <a:xfrm>
            <a:off x="9512446" y="50126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481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SG" sz="2000" dirty="0"/>
              <a:t>To become familiar with Open vSwitch and its basic operation </a:t>
            </a:r>
          </a:p>
          <a:p>
            <a:r>
              <a:rPr lang="en-SG" sz="2000" dirty="0">
                <a:solidFill>
                  <a:schemeClr val="accent1"/>
                </a:solidFill>
              </a:rPr>
              <a:t>To implement Open vSwitch flow tables </a:t>
            </a:r>
          </a:p>
          <a:p>
            <a:r>
              <a:rPr lang="en-SG" sz="2000" dirty="0"/>
              <a:t>To Enable traffic forwarding using layer 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r>
              <a:rPr lang="en-SG" dirty="0"/>
              <a:t>Task:</a:t>
            </a:r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dirty="0"/>
          </a:p>
          <a:p>
            <a:pPr algn="just"/>
            <a:r>
              <a:rPr lang="en-SG" dirty="0"/>
              <a:t>Command:</a:t>
            </a:r>
          </a:p>
          <a:p>
            <a:pPr lvl="1" algn="just"/>
            <a:r>
              <a:rPr lang="en-SG" sz="1600" dirty="0" err="1"/>
              <a:t>sudo</a:t>
            </a:r>
            <a:r>
              <a:rPr lang="en-SG" sz="1600" dirty="0"/>
              <a:t> </a:t>
            </a:r>
            <a:r>
              <a:rPr lang="en-SG" sz="1600" dirty="0" err="1"/>
              <a:t>ovs-ofctl</a:t>
            </a:r>
            <a:r>
              <a:rPr lang="en-SG" sz="1600" dirty="0"/>
              <a:t> </a:t>
            </a:r>
            <a:r>
              <a:rPr lang="en-SG" sz="1600" u="sng" dirty="0">
                <a:solidFill>
                  <a:srgbClr val="FF0000"/>
                </a:solidFill>
              </a:rPr>
              <a:t>[TASK]</a:t>
            </a:r>
            <a:r>
              <a:rPr lang="en-SG" sz="1600" dirty="0">
                <a:solidFill>
                  <a:srgbClr val="FF0000"/>
                </a:solidFill>
              </a:rPr>
              <a:t> [</a:t>
            </a:r>
            <a:r>
              <a:rPr lang="en-SG" sz="1600" u="sng" dirty="0">
                <a:solidFill>
                  <a:srgbClr val="FF0000"/>
                </a:solidFill>
              </a:rPr>
              <a:t>NAME_SWITCH]</a:t>
            </a:r>
            <a:r>
              <a:rPr lang="en-SG" sz="1600" dirty="0">
                <a:solidFill>
                  <a:srgbClr val="FF0000"/>
                </a:solidFill>
              </a:rPr>
              <a:t> [</a:t>
            </a:r>
            <a:r>
              <a:rPr lang="en-SG" sz="1600" u="sng" dirty="0">
                <a:solidFill>
                  <a:srgbClr val="FF0000"/>
                </a:solidFill>
              </a:rPr>
              <a:t>ACTION]</a:t>
            </a:r>
          </a:p>
          <a:p>
            <a:pPr lvl="1" algn="just"/>
            <a:endParaRPr lang="en-SG" sz="1600" u="sng" dirty="0">
              <a:solidFill>
                <a:srgbClr val="FF0000"/>
              </a:solidFill>
            </a:endParaRPr>
          </a:p>
          <a:p>
            <a:pPr lvl="1" algn="just"/>
            <a:endParaRPr lang="en-SG" sz="1600" u="sng" dirty="0">
              <a:solidFill>
                <a:srgbClr val="FF0000"/>
              </a:solidFill>
            </a:endParaRPr>
          </a:p>
          <a:p>
            <a:pPr lvl="1" algn="just"/>
            <a:endParaRPr lang="en-SG" sz="1600" u="sng" dirty="0">
              <a:solidFill>
                <a:srgbClr val="FF0000"/>
              </a:solidFill>
            </a:endParaRPr>
          </a:p>
          <a:p>
            <a:pPr lvl="1" algn="just"/>
            <a:endParaRPr lang="en-SG" sz="1600" u="sng" dirty="0">
              <a:solidFill>
                <a:srgbClr val="FF0000"/>
              </a:solidFill>
            </a:endParaRPr>
          </a:p>
          <a:p>
            <a:pPr lvl="1" algn="just"/>
            <a:r>
              <a:rPr lang="en-SG" sz="1600" dirty="0"/>
              <a:t>Verify connectivity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DCEB46-2BC0-020A-9E1F-702C2904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087" y="1174366"/>
            <a:ext cx="2868202" cy="881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19859-E906-E8A2-64F6-DC9EDE185B51}"/>
              </a:ext>
            </a:extLst>
          </p:cNvPr>
          <p:cNvSpPr txBox="1"/>
          <p:nvPr/>
        </p:nvSpPr>
        <p:spPr>
          <a:xfrm>
            <a:off x="9722437" y="1548317"/>
            <a:ext cx="1761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ovs-ofctl</a:t>
            </a:r>
            <a:r>
              <a:rPr lang="en-SG" sz="140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is monitoring and administering utility</a:t>
            </a:r>
            <a:endParaRPr lang="en-US" sz="1400" dirty="0">
              <a:solidFill>
                <a:schemeClr val="accent6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66D86E4-E8E6-1228-31AA-DE2AD02679E6}"/>
              </a:ext>
            </a:extLst>
          </p:cNvPr>
          <p:cNvGraphicFramePr>
            <a:graphicFrameLocks noGrp="1"/>
          </p:cNvGraphicFramePr>
          <p:nvPr/>
        </p:nvGraphicFramePr>
        <p:xfrm>
          <a:off x="6558432" y="2721732"/>
          <a:ext cx="406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034">
                  <a:extLst>
                    <a:ext uri="{9D8B030D-6E8A-4147-A177-3AD203B41FA5}">
                      <a16:colId xmlns:a16="http://schemas.microsoft.com/office/drawing/2014/main" val="3897173574"/>
                    </a:ext>
                  </a:extLst>
                </a:gridCol>
                <a:gridCol w="2866966">
                  <a:extLst>
                    <a:ext uri="{9D8B030D-6E8A-4147-A177-3AD203B41FA5}">
                      <a16:colId xmlns:a16="http://schemas.microsoft.com/office/drawing/2014/main" val="3765712455"/>
                    </a:ext>
                  </a:extLst>
                </a:gridCol>
              </a:tblGrid>
              <a:tr h="288664">
                <a:tc>
                  <a:txBody>
                    <a:bodyPr/>
                    <a:lstStyle/>
                    <a:p>
                      <a:r>
                        <a:rPr lang="en-SG" sz="1400" dirty="0"/>
                        <a:t>dump-flow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List available 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79386"/>
                  </a:ext>
                </a:extLst>
              </a:tr>
              <a:tr h="191911">
                <a:tc>
                  <a:txBody>
                    <a:bodyPr/>
                    <a:lstStyle/>
                    <a:p>
                      <a:r>
                        <a:rPr lang="en-SG" sz="1400" dirty="0"/>
                        <a:t>add-flow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 flow within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906253"/>
                  </a:ext>
                </a:extLst>
              </a:tr>
              <a:tr h="222975">
                <a:tc>
                  <a:txBody>
                    <a:bodyPr/>
                    <a:lstStyle/>
                    <a:p>
                      <a:r>
                        <a:rPr lang="en-SG" sz="1400" dirty="0"/>
                        <a:t>del-flows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Delete flows from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556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3557FC8-16C5-292C-D16D-204BE019B181}"/>
              </a:ext>
            </a:extLst>
          </p:cNvPr>
          <p:cNvSpPr txBox="1"/>
          <p:nvPr/>
        </p:nvSpPr>
        <p:spPr>
          <a:xfrm>
            <a:off x="5590704" y="4564617"/>
            <a:ext cx="5449829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dirty="0" err="1"/>
              <a:t>sudo</a:t>
            </a:r>
            <a:r>
              <a:rPr lang="en-SG" dirty="0"/>
              <a:t> </a:t>
            </a:r>
            <a:r>
              <a:rPr lang="en-SG" dirty="0" err="1"/>
              <a:t>ovs-ofctl</a:t>
            </a:r>
            <a:r>
              <a:rPr lang="en-SG" dirty="0"/>
              <a:t> </a:t>
            </a:r>
            <a:r>
              <a:rPr lang="en-SG" dirty="0">
                <a:solidFill>
                  <a:schemeClr val="accent1"/>
                </a:solidFill>
              </a:rPr>
              <a:t>add-flow s5 action=normal</a:t>
            </a:r>
          </a:p>
          <a:p>
            <a:endParaRPr lang="en-SG" dirty="0"/>
          </a:p>
          <a:p>
            <a:r>
              <a:rPr lang="en-SG" dirty="0" err="1"/>
              <a:t>sudo</a:t>
            </a:r>
            <a:r>
              <a:rPr lang="en-SG" dirty="0"/>
              <a:t> </a:t>
            </a:r>
            <a:r>
              <a:rPr lang="en-SG" dirty="0" err="1"/>
              <a:t>ovs-ofctl</a:t>
            </a:r>
            <a:r>
              <a:rPr lang="en-SG" dirty="0"/>
              <a:t> </a:t>
            </a:r>
            <a:r>
              <a:rPr lang="en-SG" dirty="0">
                <a:solidFill>
                  <a:schemeClr val="accent1"/>
                </a:solidFill>
              </a:rPr>
              <a:t>dump-flows s5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E8406-D930-86AF-5D05-C8DCAE357BF3}"/>
              </a:ext>
            </a:extLst>
          </p:cNvPr>
          <p:cNvSpPr txBox="1"/>
          <p:nvPr/>
        </p:nvSpPr>
        <p:spPr>
          <a:xfrm>
            <a:off x="9426540" y="4571020"/>
            <a:ext cx="1761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Traditional </a:t>
            </a:r>
          </a:p>
          <a:p>
            <a:pPr algn="ctr"/>
            <a:r>
              <a:rPr lang="en-SG" sz="14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switch </a:t>
            </a:r>
          </a:p>
          <a:p>
            <a:pPr algn="ctr"/>
            <a:r>
              <a:rPr lang="en-SG" sz="14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forwarding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5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To become familiar with Open vSwitch and its basic operation </a:t>
            </a:r>
          </a:p>
          <a:p>
            <a:r>
              <a:rPr lang="en-SG" dirty="0"/>
              <a:t>To implement Open vSwitch flow tables </a:t>
            </a:r>
          </a:p>
          <a:p>
            <a:r>
              <a:rPr lang="en-SG" dirty="0">
                <a:solidFill>
                  <a:schemeClr val="accent1"/>
                </a:solidFill>
              </a:rPr>
              <a:t>To enable traffic forwarding using layer 3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298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SG" sz="2000" dirty="0"/>
              <a:t>To become familiar with Open vSwitch and its basic operation </a:t>
            </a:r>
          </a:p>
          <a:p>
            <a:r>
              <a:rPr lang="en-SG" sz="2000" dirty="0"/>
              <a:t>To implement Open vSwitch flow tables </a:t>
            </a:r>
          </a:p>
          <a:p>
            <a:r>
              <a:rPr lang="en-SG" sz="2000" dirty="0">
                <a:solidFill>
                  <a:schemeClr val="accent1"/>
                </a:solidFill>
              </a:rPr>
              <a:t>To Enable traffic forwarding using layer 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marL="0" indent="0" algn="just">
              <a:buNone/>
            </a:pPr>
            <a:endParaRPr lang="en-SG" dirty="0"/>
          </a:p>
          <a:p>
            <a:pPr marL="0" indent="0" algn="just">
              <a:buNone/>
            </a:pPr>
            <a:endParaRPr lang="en-SG" sz="1400" dirty="0"/>
          </a:p>
          <a:p>
            <a:pPr algn="just"/>
            <a:r>
              <a:rPr lang="en-SG" dirty="0"/>
              <a:t>Task</a:t>
            </a:r>
            <a:r>
              <a:rPr lang="en-SG" sz="2000" dirty="0"/>
              <a:t>:</a:t>
            </a:r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dirty="0"/>
          </a:p>
          <a:p>
            <a:pPr marL="0" indent="0" algn="just">
              <a:buNone/>
            </a:pPr>
            <a:endParaRPr lang="en-SG" sz="700" dirty="0"/>
          </a:p>
          <a:p>
            <a:pPr algn="just"/>
            <a:r>
              <a:rPr lang="en-SG" dirty="0"/>
              <a:t>Manual entries using layer-3 info:</a:t>
            </a:r>
          </a:p>
          <a:p>
            <a:pPr lvl="1" algn="just"/>
            <a:r>
              <a:rPr lang="en-SG" sz="1600" dirty="0"/>
              <a:t>First, verify which port of the switch is connected to which host?</a:t>
            </a:r>
            <a:endParaRPr lang="en-SG" dirty="0"/>
          </a:p>
          <a:p>
            <a:pPr lvl="1" algn="just"/>
            <a:endParaRPr lang="en-SG" sz="1600" dirty="0"/>
          </a:p>
          <a:p>
            <a:pPr lvl="1" algn="just"/>
            <a:r>
              <a:rPr lang="en-SG" sz="1600" dirty="0" err="1"/>
              <a:t>sudo</a:t>
            </a:r>
            <a:r>
              <a:rPr lang="en-SG" sz="1600" dirty="0"/>
              <a:t> </a:t>
            </a:r>
            <a:r>
              <a:rPr lang="en-SG" sz="1600" dirty="0" err="1"/>
              <a:t>ovs-ofctl</a:t>
            </a:r>
            <a:r>
              <a:rPr lang="en-SG" sz="1600" dirty="0"/>
              <a:t> </a:t>
            </a:r>
            <a:r>
              <a:rPr lang="en-SG" sz="1600" u="sng" dirty="0">
                <a:solidFill>
                  <a:srgbClr val="FF0000"/>
                </a:solidFill>
              </a:rPr>
              <a:t>[TASK]</a:t>
            </a:r>
            <a:r>
              <a:rPr lang="en-SG" sz="1600" dirty="0">
                <a:solidFill>
                  <a:srgbClr val="FF0000"/>
                </a:solidFill>
              </a:rPr>
              <a:t> [</a:t>
            </a:r>
            <a:r>
              <a:rPr lang="en-SG" sz="1600" u="sng" dirty="0">
                <a:solidFill>
                  <a:srgbClr val="FF0000"/>
                </a:solidFill>
              </a:rPr>
              <a:t>NAME_SWITCH]</a:t>
            </a:r>
            <a:r>
              <a:rPr lang="en-SG" sz="1600" dirty="0">
                <a:solidFill>
                  <a:srgbClr val="FF0000"/>
                </a:solidFill>
              </a:rPr>
              <a:t> [</a:t>
            </a:r>
            <a:r>
              <a:rPr lang="en-SG" sz="1600" u="sng" dirty="0">
                <a:solidFill>
                  <a:srgbClr val="FF0000"/>
                </a:solidFill>
              </a:rPr>
              <a:t>ACTION]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DCEB46-2BC0-020A-9E1F-702C29044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087" y="1174366"/>
            <a:ext cx="2868202" cy="881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19859-E906-E8A2-64F6-DC9EDE185B51}"/>
              </a:ext>
            </a:extLst>
          </p:cNvPr>
          <p:cNvSpPr txBox="1"/>
          <p:nvPr/>
        </p:nvSpPr>
        <p:spPr>
          <a:xfrm>
            <a:off x="9834840" y="1541748"/>
            <a:ext cx="1761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ovs-ofctl</a:t>
            </a:r>
            <a:r>
              <a:rPr lang="en-SG" sz="140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is monitoring and administering utility</a:t>
            </a:r>
            <a:endParaRPr lang="en-US" sz="1400" dirty="0">
              <a:solidFill>
                <a:schemeClr val="accent6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66D86E4-E8E6-1228-31AA-DE2AD0267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712"/>
              </p:ext>
            </p:extLst>
          </p:nvPr>
        </p:nvGraphicFramePr>
        <p:xfrm>
          <a:off x="6338107" y="2417819"/>
          <a:ext cx="406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034">
                  <a:extLst>
                    <a:ext uri="{9D8B030D-6E8A-4147-A177-3AD203B41FA5}">
                      <a16:colId xmlns:a16="http://schemas.microsoft.com/office/drawing/2014/main" val="3897173574"/>
                    </a:ext>
                  </a:extLst>
                </a:gridCol>
                <a:gridCol w="2866966">
                  <a:extLst>
                    <a:ext uri="{9D8B030D-6E8A-4147-A177-3AD203B41FA5}">
                      <a16:colId xmlns:a16="http://schemas.microsoft.com/office/drawing/2014/main" val="3765712455"/>
                    </a:ext>
                  </a:extLst>
                </a:gridCol>
              </a:tblGrid>
              <a:tr h="288664">
                <a:tc>
                  <a:txBody>
                    <a:bodyPr/>
                    <a:lstStyle/>
                    <a:p>
                      <a:r>
                        <a:rPr lang="en-SG" sz="1400" dirty="0"/>
                        <a:t>dump-flow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List available 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79386"/>
                  </a:ext>
                </a:extLst>
              </a:tr>
              <a:tr h="191911">
                <a:tc>
                  <a:txBody>
                    <a:bodyPr/>
                    <a:lstStyle/>
                    <a:p>
                      <a:r>
                        <a:rPr lang="en-SG" sz="1400" dirty="0"/>
                        <a:t>add-flow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 flow within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906253"/>
                  </a:ext>
                </a:extLst>
              </a:tr>
              <a:tr h="222975">
                <a:tc>
                  <a:txBody>
                    <a:bodyPr/>
                    <a:lstStyle/>
                    <a:p>
                      <a:r>
                        <a:rPr lang="en-SG" sz="1400" dirty="0"/>
                        <a:t>del-flows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Delete flows from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556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2BC682-02E6-B380-9AD8-71DBE5396F6B}"/>
              </a:ext>
            </a:extLst>
          </p:cNvPr>
          <p:cNvSpPr txBox="1"/>
          <p:nvPr/>
        </p:nvSpPr>
        <p:spPr>
          <a:xfrm>
            <a:off x="5713211" y="5131716"/>
            <a:ext cx="5399427" cy="9079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600" dirty="0" err="1"/>
              <a:t>sudo</a:t>
            </a:r>
            <a:r>
              <a:rPr lang="en-SG" sz="1600" dirty="0"/>
              <a:t> </a:t>
            </a:r>
            <a:r>
              <a:rPr lang="en-SG" sz="1600" dirty="0" err="1"/>
              <a:t>ovs-ofctl</a:t>
            </a:r>
            <a:r>
              <a:rPr lang="en-SG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add-flow s5 </a:t>
            </a:r>
            <a:r>
              <a:rPr lang="en-US" sz="1600" dirty="0" err="1">
                <a:solidFill>
                  <a:schemeClr val="accent1"/>
                </a:solidFill>
              </a:rPr>
              <a:t>ip,nw_dst</a:t>
            </a:r>
            <a:r>
              <a:rPr lang="en-US" sz="1600" dirty="0">
                <a:solidFill>
                  <a:schemeClr val="accent1"/>
                </a:solidFill>
              </a:rPr>
              <a:t>=10.0.0.1,action=output:1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.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.</a:t>
            </a:r>
          </a:p>
          <a:p>
            <a:r>
              <a:rPr lang="en-SG" sz="1600" dirty="0" err="1"/>
              <a:t>sudo</a:t>
            </a:r>
            <a:r>
              <a:rPr lang="en-SG" sz="1600" dirty="0"/>
              <a:t> </a:t>
            </a:r>
            <a:r>
              <a:rPr lang="en-SG" sz="1600" dirty="0" err="1"/>
              <a:t>ovs-ofctl</a:t>
            </a:r>
            <a:r>
              <a:rPr lang="en-SG" sz="1600" dirty="0"/>
              <a:t> </a:t>
            </a:r>
            <a:r>
              <a:rPr lang="en-SG" sz="1600" dirty="0">
                <a:solidFill>
                  <a:schemeClr val="accent1"/>
                </a:solidFill>
              </a:rPr>
              <a:t>add-flow s5 </a:t>
            </a:r>
            <a:r>
              <a:rPr lang="en-SG" sz="1600" dirty="0" err="1">
                <a:solidFill>
                  <a:schemeClr val="accent1"/>
                </a:solidFill>
              </a:rPr>
              <a:t>arp,action</a:t>
            </a:r>
            <a:r>
              <a:rPr lang="en-SG" sz="1600" dirty="0">
                <a:solidFill>
                  <a:schemeClr val="accent1"/>
                </a:solidFill>
              </a:rPr>
              <a:t>=normal </a:t>
            </a:r>
            <a:endParaRPr lang="en-US" sz="1600" dirty="0">
              <a:solidFill>
                <a:schemeClr val="accent1"/>
              </a:solidFill>
            </a:endParaRPr>
          </a:p>
        </p:txBody>
      </p:sp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753F100-913C-378D-7804-14814D8FA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130" y="1185195"/>
            <a:ext cx="2444115" cy="71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3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SG" sz="2000" dirty="0"/>
              <a:t>To become familiar with Open vSwitch and its basic operation </a:t>
            </a:r>
          </a:p>
          <a:p>
            <a:r>
              <a:rPr lang="en-SG" sz="2000" dirty="0"/>
              <a:t>To implement Open vSwitch flow tables </a:t>
            </a:r>
          </a:p>
          <a:p>
            <a:r>
              <a:rPr lang="en-SG" sz="2000" dirty="0">
                <a:solidFill>
                  <a:schemeClr val="accent1"/>
                </a:solidFill>
              </a:rPr>
              <a:t>To Enable traffic forwarding using layer 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r>
              <a:rPr lang="en-SG" dirty="0"/>
              <a:t>Actions</a:t>
            </a:r>
            <a:r>
              <a:rPr lang="en-SG" sz="2000" dirty="0"/>
              <a:t>:</a:t>
            </a:r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dirty="0"/>
          </a:p>
          <a:p>
            <a:pPr marL="0" indent="0" algn="just">
              <a:buNone/>
            </a:pPr>
            <a:endParaRPr lang="en-SG" sz="700" dirty="0"/>
          </a:p>
          <a:p>
            <a:pPr algn="just"/>
            <a:r>
              <a:rPr lang="en-SG" sz="2000" dirty="0"/>
              <a:t>Verify </a:t>
            </a:r>
            <a:r>
              <a:rPr lang="en-SG" sz="2000" dirty="0">
                <a:solidFill>
                  <a:schemeClr val="accent1"/>
                </a:solidFill>
              </a:rPr>
              <a:t>flow tables </a:t>
            </a:r>
            <a:r>
              <a:rPr lang="en-SG" sz="2000" dirty="0"/>
              <a:t>– dump-flows</a:t>
            </a:r>
          </a:p>
          <a:p>
            <a:pPr algn="just"/>
            <a:r>
              <a:rPr lang="en-SG" sz="2000" dirty="0"/>
              <a:t>Verify </a:t>
            </a:r>
            <a:r>
              <a:rPr lang="en-SG" sz="2000" dirty="0">
                <a:solidFill>
                  <a:schemeClr val="accent1"/>
                </a:solidFill>
              </a:rPr>
              <a:t>connectivity </a:t>
            </a:r>
            <a:r>
              <a:rPr lang="en-SG" sz="2000" dirty="0"/>
              <a:t>- ping</a:t>
            </a:r>
          </a:p>
          <a:p>
            <a:pPr algn="just"/>
            <a:endParaRPr lang="en-SG" sz="1600" u="sng" dirty="0">
              <a:solidFill>
                <a:srgbClr val="FF0000"/>
              </a:solidFill>
            </a:endParaRP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DCEB46-2BC0-020A-9E1F-702C29044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087" y="1174366"/>
            <a:ext cx="2868202" cy="881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19859-E906-E8A2-64F6-DC9EDE185B51}"/>
              </a:ext>
            </a:extLst>
          </p:cNvPr>
          <p:cNvSpPr txBox="1"/>
          <p:nvPr/>
        </p:nvSpPr>
        <p:spPr>
          <a:xfrm>
            <a:off x="9722437" y="1548317"/>
            <a:ext cx="1761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ovs-ofctl</a:t>
            </a:r>
            <a:r>
              <a:rPr lang="en-SG" sz="140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is monitoring and administering utility</a:t>
            </a:r>
            <a:endParaRPr lang="en-US" sz="1400" dirty="0">
              <a:solidFill>
                <a:schemeClr val="accent6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66D86E4-E8E6-1228-31AA-DE2AD0267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812149"/>
              </p:ext>
            </p:extLst>
          </p:nvPr>
        </p:nvGraphicFramePr>
        <p:xfrm>
          <a:off x="6380926" y="2702497"/>
          <a:ext cx="406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034">
                  <a:extLst>
                    <a:ext uri="{9D8B030D-6E8A-4147-A177-3AD203B41FA5}">
                      <a16:colId xmlns:a16="http://schemas.microsoft.com/office/drawing/2014/main" val="3897173574"/>
                    </a:ext>
                  </a:extLst>
                </a:gridCol>
                <a:gridCol w="2866966">
                  <a:extLst>
                    <a:ext uri="{9D8B030D-6E8A-4147-A177-3AD203B41FA5}">
                      <a16:colId xmlns:a16="http://schemas.microsoft.com/office/drawing/2014/main" val="3765712455"/>
                    </a:ext>
                  </a:extLst>
                </a:gridCol>
              </a:tblGrid>
              <a:tr h="288664">
                <a:tc>
                  <a:txBody>
                    <a:bodyPr/>
                    <a:lstStyle/>
                    <a:p>
                      <a:r>
                        <a:rPr lang="en-SG" sz="1400" dirty="0"/>
                        <a:t>dump-flows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List available 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79386"/>
                  </a:ext>
                </a:extLst>
              </a:tr>
              <a:tr h="191911">
                <a:tc>
                  <a:txBody>
                    <a:bodyPr/>
                    <a:lstStyle/>
                    <a:p>
                      <a:r>
                        <a:rPr lang="en-SG" sz="1400" dirty="0"/>
                        <a:t>add-flow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 flow within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906253"/>
                  </a:ext>
                </a:extLst>
              </a:tr>
              <a:tr h="222975">
                <a:tc>
                  <a:txBody>
                    <a:bodyPr/>
                    <a:lstStyle/>
                    <a:p>
                      <a:r>
                        <a:rPr lang="en-SG" sz="1400" dirty="0"/>
                        <a:t>del-flows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Delete flows from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55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4DBF0E-E156-D248-312F-0E4DD427EC0C}"/>
              </a:ext>
            </a:extLst>
          </p:cNvPr>
          <p:cNvSpPr txBox="1"/>
          <p:nvPr/>
        </p:nvSpPr>
        <p:spPr>
          <a:xfrm>
            <a:off x="5974404" y="4906049"/>
            <a:ext cx="450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can work with </a:t>
            </a:r>
            <a:r>
              <a:rPr lang="en-US" dirty="0" err="1">
                <a:solidFill>
                  <a:srgbClr val="FF0000"/>
                </a:solidFill>
              </a:rPr>
              <a:t>src</a:t>
            </a:r>
            <a:r>
              <a:rPr lang="en-US" dirty="0">
                <a:solidFill>
                  <a:srgbClr val="FF0000"/>
                </a:solidFill>
              </a:rPr>
              <a:t> IP instead of destination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F2F60-D49E-8A4C-3323-569807D6E6A9}"/>
              </a:ext>
            </a:extLst>
          </p:cNvPr>
          <p:cNvSpPr txBox="1"/>
          <p:nvPr/>
        </p:nvSpPr>
        <p:spPr>
          <a:xfrm>
            <a:off x="5602773" y="5319941"/>
            <a:ext cx="5381088" cy="9079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600" dirty="0" err="1"/>
              <a:t>sudo</a:t>
            </a:r>
            <a:r>
              <a:rPr lang="en-SG" sz="1600" dirty="0"/>
              <a:t> </a:t>
            </a:r>
            <a:r>
              <a:rPr lang="en-SG" sz="1600" dirty="0" err="1"/>
              <a:t>ovs-ofctl</a:t>
            </a:r>
            <a:r>
              <a:rPr lang="en-SG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add-flow s5 </a:t>
            </a:r>
            <a:r>
              <a:rPr lang="en-US" sz="1600" dirty="0" err="1">
                <a:solidFill>
                  <a:schemeClr val="accent1"/>
                </a:solidFill>
              </a:rPr>
              <a:t>ip,nw_src</a:t>
            </a:r>
            <a:r>
              <a:rPr lang="en-US" sz="1600" dirty="0">
                <a:solidFill>
                  <a:schemeClr val="accent1"/>
                </a:solidFill>
              </a:rPr>
              <a:t>=10.0.0.1,action=output:2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.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.</a:t>
            </a:r>
          </a:p>
          <a:p>
            <a:r>
              <a:rPr lang="en-SG" sz="1600" dirty="0" err="1"/>
              <a:t>sudo</a:t>
            </a:r>
            <a:r>
              <a:rPr lang="en-SG" sz="1600" dirty="0"/>
              <a:t> </a:t>
            </a:r>
            <a:r>
              <a:rPr lang="en-SG" sz="1600" dirty="0" err="1"/>
              <a:t>ovs-ofctl</a:t>
            </a:r>
            <a:r>
              <a:rPr lang="en-SG" sz="1600" dirty="0"/>
              <a:t> </a:t>
            </a:r>
            <a:r>
              <a:rPr lang="en-SG" sz="1600" dirty="0">
                <a:solidFill>
                  <a:schemeClr val="accent1"/>
                </a:solidFill>
              </a:rPr>
              <a:t>add-flow s5 </a:t>
            </a:r>
            <a:r>
              <a:rPr lang="en-SG" sz="1600" dirty="0" err="1">
                <a:solidFill>
                  <a:schemeClr val="accent1"/>
                </a:solidFill>
              </a:rPr>
              <a:t>arp,action</a:t>
            </a:r>
            <a:r>
              <a:rPr lang="en-SG" sz="1600" dirty="0">
                <a:solidFill>
                  <a:schemeClr val="accent1"/>
                </a:solidFill>
              </a:rPr>
              <a:t>=normal 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0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SG" sz="2000" dirty="0">
                <a:solidFill>
                  <a:srgbClr val="FF0000"/>
                </a:solidFill>
              </a:rPr>
              <a:t>Use different information (different layer data) to enables forwarding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r>
              <a:rPr lang="en-SG" dirty="0"/>
              <a:t>Actions</a:t>
            </a:r>
            <a:r>
              <a:rPr lang="en-SG" sz="2000" dirty="0"/>
              <a:t>:</a:t>
            </a:r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dirty="0"/>
          </a:p>
          <a:p>
            <a:pPr marL="0" indent="0" algn="just">
              <a:buNone/>
            </a:pPr>
            <a:endParaRPr lang="en-SG" dirty="0"/>
          </a:p>
          <a:p>
            <a:pPr marL="0" indent="0" algn="just">
              <a:buNone/>
            </a:pPr>
            <a:endParaRPr lang="en-SG" dirty="0"/>
          </a:p>
          <a:p>
            <a:pPr marL="0" indent="0" algn="ctr">
              <a:buNone/>
            </a:pPr>
            <a:r>
              <a:rPr lang="en-SG" sz="1800" dirty="0" err="1"/>
              <a:t>sudo</a:t>
            </a:r>
            <a:r>
              <a:rPr lang="en-SG" sz="1800" dirty="0"/>
              <a:t> </a:t>
            </a:r>
            <a:r>
              <a:rPr lang="en-SG" sz="1800" dirty="0" err="1"/>
              <a:t>ovs-ofctl</a:t>
            </a:r>
            <a:r>
              <a:rPr lang="en-SG" sz="1800" dirty="0"/>
              <a:t> </a:t>
            </a:r>
            <a:r>
              <a:rPr lang="en-SG" sz="1800" dirty="0">
                <a:solidFill>
                  <a:srgbClr val="FF0000"/>
                </a:solidFill>
              </a:rPr>
              <a:t>[TASK] [NAME_SWITCH] [ACTION]</a:t>
            </a:r>
            <a:endParaRPr lang="en-SG" sz="700" dirty="0">
              <a:solidFill>
                <a:srgbClr val="FF0000"/>
              </a:solidFill>
            </a:endParaRPr>
          </a:p>
          <a:p>
            <a:pPr algn="just"/>
            <a:endParaRPr lang="en-SG" sz="1600" dirty="0"/>
          </a:p>
          <a:p>
            <a:pPr algn="just"/>
            <a:r>
              <a:rPr lang="en-SG" sz="1800" b="1" dirty="0"/>
              <a:t>Layer 1: Use physical ports</a:t>
            </a:r>
          </a:p>
          <a:p>
            <a:pPr lvl="1" algn="just"/>
            <a:r>
              <a:rPr lang="en-SG" sz="1400" dirty="0" err="1"/>
              <a:t>sudo</a:t>
            </a:r>
            <a:r>
              <a:rPr lang="en-SG" sz="1400" dirty="0"/>
              <a:t> </a:t>
            </a:r>
            <a:r>
              <a:rPr lang="en-SG" sz="1400" dirty="0" err="1"/>
              <a:t>ovs-ofctl</a:t>
            </a:r>
            <a:r>
              <a:rPr lang="en-SG" sz="1400" dirty="0"/>
              <a:t> </a:t>
            </a:r>
            <a:r>
              <a:rPr lang="en-US" sz="1400" dirty="0">
                <a:solidFill>
                  <a:schemeClr val="accent1"/>
                </a:solidFill>
              </a:rPr>
              <a:t>add-flow s5 </a:t>
            </a:r>
            <a:r>
              <a:rPr lang="en-US" sz="1400" dirty="0" err="1">
                <a:solidFill>
                  <a:schemeClr val="accent1"/>
                </a:solidFill>
              </a:rPr>
              <a:t>in_port</a:t>
            </a:r>
            <a:r>
              <a:rPr lang="en-US" sz="1400" dirty="0">
                <a:solidFill>
                  <a:schemeClr val="accent1"/>
                </a:solidFill>
              </a:rPr>
              <a:t>=1,action=output:2</a:t>
            </a:r>
          </a:p>
          <a:p>
            <a:pPr lvl="1" algn="just"/>
            <a:r>
              <a:rPr lang="en-SG" sz="1400" dirty="0" err="1"/>
              <a:t>sudo</a:t>
            </a:r>
            <a:r>
              <a:rPr lang="en-SG" sz="1400" dirty="0"/>
              <a:t> </a:t>
            </a:r>
            <a:r>
              <a:rPr lang="en-SG" sz="1400" dirty="0" err="1"/>
              <a:t>ovs-ofctl</a:t>
            </a:r>
            <a:r>
              <a:rPr lang="en-SG" sz="1400" dirty="0"/>
              <a:t> </a:t>
            </a:r>
            <a:r>
              <a:rPr lang="en-US" sz="1400" dirty="0">
                <a:solidFill>
                  <a:schemeClr val="accent1"/>
                </a:solidFill>
              </a:rPr>
              <a:t>add-flow s5 </a:t>
            </a:r>
            <a:r>
              <a:rPr lang="en-US" sz="1400" dirty="0" err="1">
                <a:solidFill>
                  <a:schemeClr val="accent1"/>
                </a:solidFill>
              </a:rPr>
              <a:t>in_port</a:t>
            </a:r>
            <a:r>
              <a:rPr lang="en-US" sz="1400" dirty="0">
                <a:solidFill>
                  <a:schemeClr val="accent1"/>
                </a:solidFill>
              </a:rPr>
              <a:t>=2,action=output:1</a:t>
            </a:r>
          </a:p>
          <a:p>
            <a:pPr algn="just"/>
            <a:r>
              <a:rPr lang="en-US" sz="1800" b="1" dirty="0"/>
              <a:t>Layer 2: Use mac address</a:t>
            </a:r>
          </a:p>
          <a:p>
            <a:pPr lvl="1" algn="just"/>
            <a:r>
              <a:rPr lang="en-SG" sz="1400" dirty="0" err="1"/>
              <a:t>sudo</a:t>
            </a:r>
            <a:r>
              <a:rPr lang="en-SG" sz="1400" dirty="0"/>
              <a:t> </a:t>
            </a:r>
            <a:r>
              <a:rPr lang="en-SG" sz="1400" dirty="0" err="1"/>
              <a:t>ovs-ofctl</a:t>
            </a:r>
            <a:r>
              <a:rPr lang="en-SG" sz="1400" dirty="0"/>
              <a:t> </a:t>
            </a:r>
            <a:r>
              <a:rPr lang="en-US" sz="1400" dirty="0">
                <a:solidFill>
                  <a:schemeClr val="accent1"/>
                </a:solidFill>
              </a:rPr>
              <a:t>add-flow s5 </a:t>
            </a:r>
            <a:r>
              <a:rPr lang="en-US" sz="1400" dirty="0" err="1">
                <a:solidFill>
                  <a:schemeClr val="accent1"/>
                </a:solidFill>
              </a:rPr>
              <a:t>dl_dst</a:t>
            </a:r>
            <a:r>
              <a:rPr lang="en-US" sz="1400" dirty="0">
                <a:solidFill>
                  <a:schemeClr val="accent1"/>
                </a:solidFill>
              </a:rPr>
              <a:t>=</a:t>
            </a:r>
            <a:r>
              <a:rPr lang="en-US" sz="1400" dirty="0" err="1">
                <a:solidFill>
                  <a:schemeClr val="accent1"/>
                </a:solidFill>
              </a:rPr>
              <a:t>XXXXXXXXX,action</a:t>
            </a:r>
            <a:r>
              <a:rPr lang="en-US" sz="1400" dirty="0">
                <a:solidFill>
                  <a:schemeClr val="accent1"/>
                </a:solidFill>
              </a:rPr>
              <a:t>=output:1</a:t>
            </a:r>
          </a:p>
          <a:p>
            <a:pPr lvl="1" algn="just"/>
            <a:r>
              <a:rPr lang="en-SG" sz="1400" dirty="0" err="1"/>
              <a:t>sudo</a:t>
            </a:r>
            <a:r>
              <a:rPr lang="en-SG" sz="1400" dirty="0"/>
              <a:t> </a:t>
            </a:r>
            <a:r>
              <a:rPr lang="en-SG" sz="1400" dirty="0" err="1"/>
              <a:t>ovs-ofctl</a:t>
            </a:r>
            <a:r>
              <a:rPr lang="en-SG" sz="1400" dirty="0"/>
              <a:t> </a:t>
            </a:r>
            <a:r>
              <a:rPr lang="en-US" sz="1400" dirty="0">
                <a:solidFill>
                  <a:schemeClr val="accent1"/>
                </a:solidFill>
              </a:rPr>
              <a:t>add-flow s5 </a:t>
            </a:r>
            <a:r>
              <a:rPr lang="en-US" sz="1400" dirty="0" err="1">
                <a:solidFill>
                  <a:schemeClr val="accent1"/>
                </a:solidFill>
              </a:rPr>
              <a:t>dl_dst</a:t>
            </a:r>
            <a:r>
              <a:rPr lang="en-US" sz="1400" dirty="0">
                <a:solidFill>
                  <a:schemeClr val="accent1"/>
                </a:solidFill>
              </a:rPr>
              <a:t>=</a:t>
            </a:r>
            <a:r>
              <a:rPr lang="en-US" sz="1400" dirty="0" err="1">
                <a:solidFill>
                  <a:schemeClr val="accent1"/>
                </a:solidFill>
              </a:rPr>
              <a:t>XXXXXXXXX,action</a:t>
            </a:r>
            <a:r>
              <a:rPr lang="en-US" sz="1400" dirty="0">
                <a:solidFill>
                  <a:schemeClr val="accent1"/>
                </a:solidFill>
              </a:rPr>
              <a:t>=output:2</a:t>
            </a:r>
          </a:p>
          <a:p>
            <a:pPr lvl="1" algn="just"/>
            <a:r>
              <a:rPr lang="en-SG" sz="1400" dirty="0" err="1"/>
              <a:t>sudo</a:t>
            </a:r>
            <a:r>
              <a:rPr lang="en-SG" sz="1400" dirty="0"/>
              <a:t> </a:t>
            </a:r>
            <a:r>
              <a:rPr lang="en-SG" sz="1400" dirty="0" err="1"/>
              <a:t>ovs-ofctl</a:t>
            </a:r>
            <a:r>
              <a:rPr lang="en-SG" sz="1400" dirty="0"/>
              <a:t> </a:t>
            </a:r>
            <a:r>
              <a:rPr lang="en-SG" sz="1400" dirty="0">
                <a:solidFill>
                  <a:schemeClr val="accent1"/>
                </a:solidFill>
              </a:rPr>
              <a:t>add-flow s5 </a:t>
            </a:r>
            <a:r>
              <a:rPr lang="en-SG" sz="1400" dirty="0" err="1">
                <a:solidFill>
                  <a:schemeClr val="accent1"/>
                </a:solidFill>
              </a:rPr>
              <a:t>arp,action</a:t>
            </a:r>
            <a:r>
              <a:rPr lang="en-SG" sz="1400" dirty="0">
                <a:solidFill>
                  <a:schemeClr val="accent1"/>
                </a:solidFill>
              </a:rPr>
              <a:t>=normal </a:t>
            </a:r>
            <a:endParaRPr lang="en-US" sz="1400" dirty="0">
              <a:solidFill>
                <a:schemeClr val="accent1"/>
              </a:solidFill>
            </a:endParaRPr>
          </a:p>
          <a:p>
            <a:pPr lvl="1" algn="just"/>
            <a:endParaRPr lang="en-US" sz="1400" dirty="0"/>
          </a:p>
          <a:p>
            <a:pPr algn="just"/>
            <a:endParaRPr lang="en-SG" sz="1600" u="sng" dirty="0">
              <a:solidFill>
                <a:srgbClr val="FF0000"/>
              </a:solidFill>
            </a:endParaRP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DCEB46-2BC0-020A-9E1F-702C29044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087" y="1174366"/>
            <a:ext cx="2868202" cy="881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19859-E906-E8A2-64F6-DC9EDE185B51}"/>
              </a:ext>
            </a:extLst>
          </p:cNvPr>
          <p:cNvSpPr txBox="1"/>
          <p:nvPr/>
        </p:nvSpPr>
        <p:spPr>
          <a:xfrm>
            <a:off x="9722437" y="1548317"/>
            <a:ext cx="1761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ovs-ofctl</a:t>
            </a:r>
            <a:r>
              <a:rPr lang="en-SG" sz="140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 is monitoring and administering utility</a:t>
            </a:r>
            <a:endParaRPr lang="en-US" sz="1400" dirty="0">
              <a:solidFill>
                <a:schemeClr val="accent6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66D86E4-E8E6-1228-31AA-DE2AD02679E6}"/>
              </a:ext>
            </a:extLst>
          </p:cNvPr>
          <p:cNvGraphicFramePr>
            <a:graphicFrameLocks noGrp="1"/>
          </p:cNvGraphicFramePr>
          <p:nvPr/>
        </p:nvGraphicFramePr>
        <p:xfrm>
          <a:off x="6380926" y="2702497"/>
          <a:ext cx="406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034">
                  <a:extLst>
                    <a:ext uri="{9D8B030D-6E8A-4147-A177-3AD203B41FA5}">
                      <a16:colId xmlns:a16="http://schemas.microsoft.com/office/drawing/2014/main" val="3897173574"/>
                    </a:ext>
                  </a:extLst>
                </a:gridCol>
                <a:gridCol w="2866966">
                  <a:extLst>
                    <a:ext uri="{9D8B030D-6E8A-4147-A177-3AD203B41FA5}">
                      <a16:colId xmlns:a16="http://schemas.microsoft.com/office/drawing/2014/main" val="3765712455"/>
                    </a:ext>
                  </a:extLst>
                </a:gridCol>
              </a:tblGrid>
              <a:tr h="288664">
                <a:tc>
                  <a:txBody>
                    <a:bodyPr/>
                    <a:lstStyle/>
                    <a:p>
                      <a:r>
                        <a:rPr lang="en-SG" sz="1400" dirty="0"/>
                        <a:t>dump-flows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List available 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79386"/>
                  </a:ext>
                </a:extLst>
              </a:tr>
              <a:tr h="191911">
                <a:tc>
                  <a:txBody>
                    <a:bodyPr/>
                    <a:lstStyle/>
                    <a:p>
                      <a:r>
                        <a:rPr lang="en-SG" sz="1400" dirty="0"/>
                        <a:t>add-flow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 flow within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906253"/>
                  </a:ext>
                </a:extLst>
              </a:tr>
              <a:tr h="222975">
                <a:tc>
                  <a:txBody>
                    <a:bodyPr/>
                    <a:lstStyle/>
                    <a:p>
                      <a:r>
                        <a:rPr lang="en-SG" sz="1400" dirty="0"/>
                        <a:t>del-flows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Delete flows from flow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5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83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8DD8-A854-4847-BDBF-C43E7D28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0ED-C217-6C5B-4DAE-C958FF3AB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https://www.openvswitch.org</a:t>
            </a:r>
            <a:r>
              <a:rPr lang="en-US" dirty="0"/>
              <a:t> – Open Virtual Switch</a:t>
            </a:r>
          </a:p>
          <a:p>
            <a:r>
              <a:rPr lang="en-US" dirty="0">
                <a:hlinkClick r:id="rId3"/>
              </a:rPr>
              <a:t>http://mininet.org/</a:t>
            </a:r>
            <a:r>
              <a:rPr lang="en-US" dirty="0"/>
              <a:t> -  Basics and Installation</a:t>
            </a:r>
          </a:p>
          <a:p>
            <a:r>
              <a:rPr lang="en-US" dirty="0">
                <a:hlinkClick r:id="rId4"/>
              </a:rPr>
              <a:t>http://www.openvswitch.org//support/dist-docs/ovs-ofctl.8.txt</a:t>
            </a:r>
            <a:r>
              <a:rPr lang="en-US" dirty="0"/>
              <a:t> - </a:t>
            </a:r>
            <a:r>
              <a:rPr lang="en-US" dirty="0" err="1"/>
              <a:t>ovs-ofctl</a:t>
            </a:r>
            <a:r>
              <a:rPr lang="en-US" dirty="0"/>
              <a:t> command help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5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5590</TotalTime>
  <Words>1032</Words>
  <Application>Microsoft Office PowerPoint</Application>
  <PresentationFormat>宽屏</PresentationFormat>
  <Paragraphs>207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inherit</vt:lpstr>
      <vt:lpstr>Arial</vt:lpstr>
      <vt:lpstr>Calibri</vt:lpstr>
      <vt:lpstr>Calibri Light</vt:lpstr>
      <vt:lpstr>Times New Roman</vt:lpstr>
      <vt:lpstr>Office Theme</vt:lpstr>
      <vt:lpstr>Lab 02 Open Virtual Switch (Open vSwitch)</vt:lpstr>
      <vt:lpstr>Class Activity</vt:lpstr>
      <vt:lpstr>Class Activity</vt:lpstr>
      <vt:lpstr>Introduction</vt:lpstr>
      <vt:lpstr>Introduction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Anum Talpur</dc:creator>
  <cp:lastModifiedBy>binghui wu</cp:lastModifiedBy>
  <cp:revision>73</cp:revision>
  <dcterms:created xsi:type="dcterms:W3CDTF">2022-09-30T04:32:35Z</dcterms:created>
  <dcterms:modified xsi:type="dcterms:W3CDTF">2023-10-17T11:47:52Z</dcterms:modified>
</cp:coreProperties>
</file>