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5" r:id="rId3"/>
    <p:sldId id="277" r:id="rId4"/>
    <p:sldId id="257" r:id="rId5"/>
    <p:sldId id="280" r:id="rId6"/>
    <p:sldId id="281" r:id="rId7"/>
    <p:sldId id="258" r:id="rId8"/>
    <p:sldId id="266" r:id="rId9"/>
    <p:sldId id="284" r:id="rId10"/>
    <p:sldId id="282" r:id="rId11"/>
    <p:sldId id="285" r:id="rId12"/>
    <p:sldId id="283" r:id="rId13"/>
    <p:sldId id="286" r:id="rId14"/>
    <p:sldId id="287" r:id="rId15"/>
    <p:sldId id="275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30"/>
    <p:restoredTop sz="89877"/>
  </p:normalViewPr>
  <p:slideViewPr>
    <p:cSldViewPr snapToGrid="0">
      <p:cViewPr varScale="1">
        <p:scale>
          <a:sx n="109" d="100"/>
          <a:sy n="109" d="100"/>
        </p:scale>
        <p:origin x="55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57D05-F40E-FC41-B43E-1A0A0C51DFE8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185D2-F5E8-0C4A-A0C1-228AE5518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7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185D2-F5E8-0C4A-A0C1-228AE55180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05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185D2-F5E8-0C4A-A0C1-228AE55180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6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B347-C0A4-728F-7003-404E3DDA5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9C53E-0423-6F04-EB81-89AF0682C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82F5F-2547-B160-8B7F-6B25721D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2C9A4-2BBC-E727-7C3E-ABFF48E2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CD4D7-E61F-D41E-7CD4-A3872B2E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5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0013-11CF-0CE2-5A6D-64381079E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03538-3675-C163-8249-24F9D7AF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3682D-BA30-907E-4DA9-F5371422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1D5A1-30F2-117E-5CC6-AC259A8A9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84D4F-EA66-E234-EA02-08D684C5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4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72F5-70C1-CA5B-A979-6F7F4DEB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3F444-F21C-EC95-9559-28069F16F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8E774-4A91-2B51-9ABD-572D05BEE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A0E1B-B9D4-1B30-4E4D-6F7A4E16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C4537-FB61-7BA4-CAE4-941C98C3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9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0DC85-C674-B468-1EFC-1C681962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939C-A525-6E08-1683-D7174C922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7C48D-24DE-C70B-5494-1D5EE1910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7D4AD-AD6E-7BB2-5336-FEC76F0D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49263-CE03-3E4A-907F-C7F5AEA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C443E-4313-B866-899A-B469D5C0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67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4E15C-96A4-C0A0-3E98-D66581F1D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89A06-BCA9-A980-C733-D3639D110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A693E-783F-6660-FD13-2E737329AE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D96DF-9FBE-008A-5412-3B194F46F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49679B-957A-753F-1A0A-FA11AC1AB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E1017-5CA0-3029-53A9-327195428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8B2ED8-4B6E-5D18-18F1-66FCFB0F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D941B7-53B8-4B99-61DA-52F19ACF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1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BEFC-0A0B-D067-1D51-B6653638D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AB8728-EDF9-D29B-0CE5-437254C2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F888E-4920-C7BB-27C9-6F8DD311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CAFB0-B903-B60C-F555-66D12373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6A4C0A-8B95-EC3B-F5B7-2F0257315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ABC85-6D5C-F26B-284D-621E8E75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CDAD6-8868-B3DF-7076-B085368D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7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A9E7-6426-4EAE-5F49-5E801372E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A1A4B-34BE-9629-9620-98E1A7E7E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935B8-8CEB-D792-B57C-546A75E8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A7273-F0B6-367F-1998-D15D7F01D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67639-794C-CAB7-FADF-5CF8348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C6E23-19F9-762F-3F53-7F225CC2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0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B913D-4006-9E9A-4CB0-FD8AAF5D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55216-3334-B338-1B9A-7A0EA59BF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6E6DE-A12C-74DA-CF3B-A00F01569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EF514-4BC0-A17B-4C7F-419403CB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07004-D1DD-159C-D20A-9D5AAEB7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E651D-BBE5-08A8-1ECC-A9062ABCF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2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67DD-3014-9826-DB89-47E41D2D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E6603-B03B-63BD-5DDC-DA8FFB725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06680-4455-E176-C3BE-B66EDD3D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566B9-7984-A780-50B3-D0C973F8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BB4B9-9DF7-50DC-CEFE-2991A081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6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EE4E7-0D14-5FB2-8E1C-D511D497D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6597D-A0ED-C8D9-C978-ED622F34B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610AB-E877-6928-3D06-B2D6C1A1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142F5-D2CA-EDED-8E73-08451095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A12CB-44E8-4547-5246-588C3F8A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1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7D7345-0245-C78E-9BF5-E187C3A30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C29C7-FEFA-AC18-E6AF-1CBC8B14B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CEDB7-92FE-8AD8-7E92-F80672DA8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22EE3-F144-7648-8716-4B362223DE30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6E527-8F89-72DE-8F32-F03427E02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59102-9A89-ED82-03F9-CA67B1D81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37013-D702-D146-B9D3-AD45D4A39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07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e0974142@u.nu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oxrepo.github.io/pox-doc/html/#stock-component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hyperlink" Target="CEG5101-Lab03-Assignment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mininet.org/" TargetMode="External"/><Relationship Id="rId2" Type="http://schemas.openxmlformats.org/officeDocument/2006/relationships/hyperlink" Target="https://noxrepo.github.io/pox-doc/html/#stock-componen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06A2-84A7-6318-D6BB-C1C74E4119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03</a:t>
            </a:r>
            <a:br>
              <a:rPr lang="en-US" dirty="0"/>
            </a:br>
            <a:r>
              <a:rPr lang="en-SG" sz="4400" dirty="0"/>
              <a:t>Software-Defined Network (SDN) with POX Controller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3928A-54B4-CFDA-A7D8-D562380DD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4541"/>
            <a:ext cx="9399564" cy="1854401"/>
          </a:xfrm>
        </p:spPr>
        <p:txBody>
          <a:bodyPr>
            <a:normAutofit fontScale="62500" lnSpcReduction="20000"/>
          </a:bodyPr>
          <a:lstStyle/>
          <a:p>
            <a:pPr algn="ctr"/>
            <a:endParaRPr lang="en-GB" sz="26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CEG5101 Modern Computer Networking</a:t>
            </a:r>
            <a:endParaRPr lang="en-SG" sz="26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Graduate Assistant:</a:t>
            </a:r>
            <a:r>
              <a:rPr lang="en-US" altLang="zh-CN" sz="2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Mr. Binghui Wu (e0675868@u.nus.edu) and Ms. Divya D Kulkarni</a:t>
            </a:r>
            <a:r>
              <a:rPr lang="en-US" altLang="zh-CN" sz="2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 (</a:t>
            </a:r>
            <a:r>
              <a:rPr lang="en-US" altLang="zh-CN" sz="2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e0974142</a:t>
            </a:r>
            <a:r>
              <a:rPr lang="en-US" altLang="zh-CN" sz="2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@u.nus.edu</a:t>
            </a:r>
            <a:r>
              <a:rPr lang="en-US" altLang="zh-CN" sz="2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)</a:t>
            </a:r>
          </a:p>
          <a:p>
            <a:r>
              <a:rPr lang="en-US" altLang="zh-CN" sz="2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by:  Ms. Anum </a:t>
            </a:r>
            <a:r>
              <a:rPr lang="en-US" altLang="zh-CN" sz="2600" b="1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Talpur</a:t>
            </a:r>
            <a:r>
              <a:rPr lang="en-US" altLang="zh-CN" sz="2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(Ex-Graduate Assistant) </a:t>
            </a:r>
            <a:endParaRPr lang="en-GB" sz="26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5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</a:t>
            </a:r>
            <a:r>
              <a:rPr lang="en-GB" sz="26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r: Assoc. Prof. Mohan Gurusamy</a:t>
            </a:r>
            <a:endParaRPr lang="en-SG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GB" sz="26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ECE Department, CDE., National University of Singapore</a:t>
            </a:r>
            <a:endParaRPr lang="en-GB" sz="1200" b="1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GB" sz="1800" b="1" dirty="0">
              <a:solidFill>
                <a:srgbClr val="00B05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29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C6CB-DA18-85B8-63CF-785E9EDF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CBF3-74AB-EDD3-606B-012346C2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To become familiar with the concept of SDN and Controller. </a:t>
            </a:r>
            <a:endParaRPr lang="en-SG" sz="2400" dirty="0"/>
          </a:p>
          <a:p>
            <a:r>
              <a:rPr lang="en-GB" sz="2400" dirty="0"/>
              <a:t>To download and install the POX controller.</a:t>
            </a:r>
            <a:endParaRPr lang="en-SG" sz="2400" dirty="0"/>
          </a:p>
          <a:p>
            <a:r>
              <a:rPr lang="en-GB" sz="2400" dirty="0"/>
              <a:t>To invoke the POX controller as a layer-2 learning switch.</a:t>
            </a:r>
            <a:endParaRPr lang="en-SG" sz="2400" dirty="0"/>
          </a:p>
          <a:p>
            <a:r>
              <a:rPr lang="en-GB" sz="2400" dirty="0"/>
              <a:t>To invoke the POX controller as a forwarding hub.</a:t>
            </a:r>
            <a:endParaRPr lang="en-SG" sz="2400" dirty="0"/>
          </a:p>
          <a:p>
            <a:r>
              <a:rPr lang="en-GB" sz="2400" dirty="0"/>
              <a:t>To invoke the POX controller as a load balancer.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84137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C6CB-DA18-85B8-63CF-785E9EDF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CBF3-74AB-EDD3-606B-012346C2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To become familiar with the concept of SDN and Controller. </a:t>
            </a:r>
            <a:endParaRPr lang="en-SG" sz="2400" dirty="0">
              <a:solidFill>
                <a:schemeClr val="accent1"/>
              </a:solidFill>
            </a:endParaRPr>
          </a:p>
          <a:p>
            <a:r>
              <a:rPr lang="en-GB" sz="2400" dirty="0"/>
              <a:t>To download and install the POX controller.</a:t>
            </a:r>
            <a:endParaRPr lang="en-SG" sz="2400" dirty="0"/>
          </a:p>
          <a:p>
            <a:r>
              <a:rPr lang="en-GB" sz="2400" dirty="0"/>
              <a:t>To invoke the POX controller as a layer-2 learning switch.</a:t>
            </a:r>
            <a:endParaRPr lang="en-SG" sz="2400" dirty="0"/>
          </a:p>
          <a:p>
            <a:r>
              <a:rPr lang="en-GB" sz="2400" dirty="0"/>
              <a:t>To invoke the POX controller as a forwarding hub.</a:t>
            </a:r>
            <a:endParaRPr lang="en-SG" sz="2400" dirty="0"/>
          </a:p>
          <a:p>
            <a:r>
              <a:rPr lang="en-GB" sz="2400" dirty="0"/>
              <a:t>To invoke the POX controller as a load balancer.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25204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F476-4642-C198-F7FC-22EDBDF7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F3FE4-084D-5E27-925E-71FA0C7E1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SDN or software-defined networking is a concept in which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programming interfaces (APIs)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used to enable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within the network. </a:t>
            </a:r>
          </a:p>
          <a:p>
            <a:pPr algn="just"/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SDN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decouples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plane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plane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implements it as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instead to enable flexibility within a network through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programmatic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SG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plane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the part of the network which handles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 forwarding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plane 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the part that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GB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configures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data plane on the traffic forwarding process. </a:t>
            </a:r>
            <a:endParaRPr lang="en-SG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GB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lab activity, we will learn to use a controller to update data forwarding rules on the Open vSwitch (OVS) to enable communication between different hosts/machines. </a:t>
            </a:r>
            <a:endParaRPr lang="en-SG" sz="18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422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C6CB-DA18-85B8-63CF-785E9EDF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CBF3-74AB-EDD3-606B-012346C2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To become familiar with the concept of SDN and Controller. </a:t>
            </a:r>
            <a:endParaRPr lang="en-SG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To download and install the POX controller.</a:t>
            </a:r>
            <a:endParaRPr lang="en-SG" sz="2400" dirty="0">
              <a:solidFill>
                <a:schemeClr val="accent1"/>
              </a:solidFill>
            </a:endParaRPr>
          </a:p>
          <a:p>
            <a:r>
              <a:rPr lang="en-GB" sz="2400" dirty="0"/>
              <a:t>To invoke the POX controller as a layer-2 learning switch.</a:t>
            </a:r>
            <a:endParaRPr lang="en-SG" sz="2400" dirty="0"/>
          </a:p>
          <a:p>
            <a:r>
              <a:rPr lang="en-GB" sz="2400" dirty="0"/>
              <a:t>To invoke the POX controller as a forwarding hub.</a:t>
            </a:r>
            <a:endParaRPr lang="en-SG" sz="2400" dirty="0"/>
          </a:p>
          <a:p>
            <a:r>
              <a:rPr lang="en-GB" sz="2400" dirty="0"/>
              <a:t>To invoke the POX controller as a load balancer.</a:t>
            </a:r>
            <a:endParaRPr lang="en-SG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828D3-FB60-E979-FCFE-676A7B11D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135" y="2798614"/>
            <a:ext cx="2739335" cy="38765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D509DD-1B82-F75F-1792-E59D193EA166}"/>
              </a:ext>
            </a:extLst>
          </p:cNvPr>
          <p:cNvSpPr txBox="1"/>
          <p:nvPr/>
        </p:nvSpPr>
        <p:spPr>
          <a:xfrm>
            <a:off x="8926830" y="2744492"/>
            <a:ext cx="918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Page 02</a:t>
            </a:r>
          </a:p>
        </p:txBody>
      </p:sp>
    </p:spTree>
    <p:extLst>
      <p:ext uri="{BB962C8B-B14F-4D97-AF65-F5344CB8AC3E}">
        <p14:creationId xmlns:p14="http://schemas.microsoft.com/office/powerpoint/2010/main" val="301058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C6CB-DA18-85B8-63CF-785E9EDF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4CBF3-74AB-EDD3-606B-012346C2C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To become familiar with the concept of SDN and Controller. </a:t>
            </a:r>
            <a:endParaRPr lang="en-SG" sz="2400" dirty="0"/>
          </a:p>
          <a:p>
            <a:r>
              <a:rPr lang="en-GB" sz="2400" dirty="0"/>
              <a:t>To download and install the POX controller.</a:t>
            </a:r>
            <a:endParaRPr lang="en-SG" sz="2400" dirty="0"/>
          </a:p>
          <a:p>
            <a:r>
              <a:rPr lang="en-GB" sz="2400" dirty="0">
                <a:solidFill>
                  <a:schemeClr val="accent1"/>
                </a:solidFill>
              </a:rPr>
              <a:t>To invoke the POX controller as a layer-2 learning switch.</a:t>
            </a:r>
            <a:endParaRPr lang="en-SG" sz="2400" dirty="0">
              <a:solidFill>
                <a:schemeClr val="accent1"/>
              </a:solidFill>
            </a:endParaRPr>
          </a:p>
          <a:p>
            <a:r>
              <a:rPr lang="en-GB" sz="2400" dirty="0">
                <a:solidFill>
                  <a:schemeClr val="accent1"/>
                </a:solidFill>
              </a:rPr>
              <a:t>To invoke the POX controller as a forwarding hub.</a:t>
            </a:r>
            <a:endParaRPr lang="en-SG" sz="2400" dirty="0">
              <a:solidFill>
                <a:schemeClr val="accent1"/>
              </a:solidFill>
            </a:endParaRPr>
          </a:p>
          <a:p>
            <a:r>
              <a:rPr lang="en-GB" sz="2400" dirty="0">
                <a:solidFill>
                  <a:schemeClr val="accent1"/>
                </a:solidFill>
              </a:rPr>
              <a:t>To invoke the POX controller as a load balancer.</a:t>
            </a:r>
            <a:endParaRPr lang="en-SG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453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GB" sz="2000" dirty="0"/>
              <a:t>To invoke the POX controller as a </a:t>
            </a:r>
            <a:r>
              <a:rPr lang="en-GB" sz="2000" dirty="0">
                <a:solidFill>
                  <a:schemeClr val="accent1"/>
                </a:solidFill>
              </a:rPr>
              <a:t>layer-2 learning switch</a:t>
            </a:r>
            <a:r>
              <a:rPr lang="en-GB" sz="2000" dirty="0"/>
              <a:t>.</a:t>
            </a:r>
            <a:endParaRPr lang="en-SG" sz="2000" dirty="0"/>
          </a:p>
          <a:p>
            <a:r>
              <a:rPr lang="en-GB" sz="2000" dirty="0"/>
              <a:t>To invoke the POX controller as a </a:t>
            </a:r>
            <a:r>
              <a:rPr lang="en-GB" sz="2000" dirty="0">
                <a:solidFill>
                  <a:schemeClr val="accent1"/>
                </a:solidFill>
              </a:rPr>
              <a:t>forwarding hub</a:t>
            </a:r>
            <a:r>
              <a:rPr lang="en-GB" sz="2000" dirty="0"/>
              <a:t>.</a:t>
            </a:r>
            <a:endParaRPr lang="en-SG" sz="2000" dirty="0"/>
          </a:p>
          <a:p>
            <a:r>
              <a:rPr lang="en-GB" sz="2000" dirty="0"/>
              <a:t>To invoke the POX controller as a </a:t>
            </a:r>
            <a:r>
              <a:rPr lang="en-GB" sz="2000" dirty="0">
                <a:solidFill>
                  <a:schemeClr val="accent1"/>
                </a:solidFill>
              </a:rPr>
              <a:t>load balancer</a:t>
            </a:r>
            <a:r>
              <a:rPr lang="en-GB" sz="2000" dirty="0"/>
              <a:t>.</a:t>
            </a:r>
            <a:endParaRPr lang="en-SG" sz="2000" dirty="0"/>
          </a:p>
          <a:p>
            <a:endParaRPr lang="en-SG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POX Controller</a:t>
            </a:r>
          </a:p>
          <a:p>
            <a:pPr lvl="1" algn="just"/>
            <a:r>
              <a:rPr lang="en-GB" sz="1800" dirty="0"/>
              <a:t>POX controller is a </a:t>
            </a:r>
            <a:r>
              <a:rPr lang="en-GB" sz="1800" dirty="0">
                <a:solidFill>
                  <a:schemeClr val="accent1"/>
                </a:solidFill>
              </a:rPr>
              <a:t>python-based controller </a:t>
            </a:r>
            <a:r>
              <a:rPr lang="en-GB" sz="1800" dirty="0"/>
              <a:t>platform that allows fast </a:t>
            </a:r>
            <a:r>
              <a:rPr lang="en-GB" sz="1800" dirty="0">
                <a:solidFill>
                  <a:schemeClr val="accent1"/>
                </a:solidFill>
              </a:rPr>
              <a:t>prototyping</a:t>
            </a:r>
            <a:r>
              <a:rPr lang="en-GB" sz="1800" dirty="0"/>
              <a:t> and controlling of the network using </a:t>
            </a:r>
            <a:r>
              <a:rPr lang="en-GB" sz="1800" dirty="0">
                <a:solidFill>
                  <a:schemeClr val="accent1"/>
                </a:solidFill>
              </a:rPr>
              <a:t>stock components</a:t>
            </a:r>
            <a:r>
              <a:rPr lang="en-GB" sz="1800" dirty="0"/>
              <a:t> that are pre-programmed. </a:t>
            </a:r>
            <a:endParaRPr lang="en-SG" sz="1800" dirty="0"/>
          </a:p>
          <a:p>
            <a:pPr lvl="1" algn="just"/>
            <a:r>
              <a:rPr lang="en-GB" sz="1800" dirty="0"/>
              <a:t>The </a:t>
            </a:r>
            <a:r>
              <a:rPr lang="en-GB" sz="1800" dirty="0">
                <a:solidFill>
                  <a:schemeClr val="accent1"/>
                </a:solidFill>
              </a:rPr>
              <a:t>stock components </a:t>
            </a:r>
            <a:r>
              <a:rPr lang="en-GB" sz="1800" dirty="0"/>
              <a:t>provide different functionalities and features and are listed on </a:t>
            </a:r>
            <a:r>
              <a:rPr lang="en-GB" sz="1800" dirty="0">
                <a:solidFill>
                  <a:schemeClr val="accent1"/>
                </a:solidFill>
              </a:rPr>
              <a:t>GitHub</a:t>
            </a:r>
            <a:r>
              <a:rPr lang="en-GB" sz="1800" dirty="0"/>
              <a:t>*. </a:t>
            </a:r>
            <a:endParaRPr lang="en-SG" sz="1800" dirty="0"/>
          </a:p>
          <a:p>
            <a:pPr lvl="1" algn="just"/>
            <a:r>
              <a:rPr lang="en-SG" sz="1800" dirty="0"/>
              <a:t>It comes with a handful of components, but POX’s target audience is really people who want to be developing their own. 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DC1443-2C7A-B8C9-FBC0-21571085E740}"/>
              </a:ext>
            </a:extLst>
          </p:cNvPr>
          <p:cNvSpPr txBox="1"/>
          <p:nvPr/>
        </p:nvSpPr>
        <p:spPr>
          <a:xfrm>
            <a:off x="0" y="6548994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hlinkClick r:id="rId3"/>
              </a:rPr>
              <a:t>https://noxrepo.github.io/pox-doc/html/#stock-components</a:t>
            </a:r>
            <a:r>
              <a:rPr lang="en-US" sz="1050" dirty="0"/>
              <a:t> </a:t>
            </a:r>
          </a:p>
        </p:txBody>
      </p:sp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774B2B46-06BB-9C62-C95B-BEB46A165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843" y="3429000"/>
            <a:ext cx="4363452" cy="272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0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accent2"/>
                </a:solidFill>
              </a:rPr>
              <a:t>To invoke the POX controller as a layer-2 learning switch</a:t>
            </a:r>
            <a:r>
              <a:rPr lang="en-GB" sz="2000" dirty="0"/>
              <a:t>.</a:t>
            </a:r>
            <a:endParaRPr lang="en-SG" sz="2000" dirty="0"/>
          </a:p>
          <a:p>
            <a:r>
              <a:rPr lang="en-GB" sz="2000" dirty="0"/>
              <a:t>To invoke the POX controller as a forwarding hub.</a:t>
            </a:r>
            <a:endParaRPr lang="en-SG" sz="2000" dirty="0"/>
          </a:p>
          <a:p>
            <a:r>
              <a:rPr lang="en-GB" sz="2000" dirty="0"/>
              <a:t>To invoke the POX controller as a load balancer.</a:t>
            </a:r>
            <a:endParaRPr lang="en-SG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sz="2000" dirty="0"/>
          </a:p>
          <a:p>
            <a:pPr algn="just"/>
            <a:r>
              <a:rPr lang="en-SG" sz="2000" dirty="0"/>
              <a:t>Start a POX controller and run the network</a:t>
            </a:r>
          </a:p>
          <a:p>
            <a:pPr lvl="1" algn="just"/>
            <a:r>
              <a:rPr lang="en-SG" sz="1800" dirty="0">
                <a:solidFill>
                  <a:schemeClr val="accent6"/>
                </a:solidFill>
                <a:latin typeface="Miriam Fixed" panose="020B0509050101010101" pitchFamily="49" charset="-79"/>
                <a:ea typeface="Times New Roman" panose="02020603050405020304" pitchFamily="18" charset="0"/>
              </a:rPr>
              <a:t>forwarding.l2_learning</a:t>
            </a:r>
            <a:r>
              <a:rPr lang="en-SG" sz="1800" dirty="0">
                <a:solidFill>
                  <a:schemeClr val="accent6"/>
                </a:solidFill>
              </a:rPr>
              <a:t> </a:t>
            </a:r>
            <a:r>
              <a:rPr lang="en-SG" sz="1800" dirty="0"/>
              <a:t> </a:t>
            </a:r>
          </a:p>
          <a:p>
            <a:pPr algn="just"/>
            <a:r>
              <a:rPr lang="en-SG" sz="2000" dirty="0" err="1"/>
              <a:t>sudo</a:t>
            </a:r>
            <a:r>
              <a:rPr lang="en-SG" sz="2000" dirty="0"/>
              <a:t> ./</a:t>
            </a:r>
            <a:r>
              <a:rPr lang="en-SG" sz="2000" dirty="0" err="1"/>
              <a:t>pox.py</a:t>
            </a:r>
            <a:r>
              <a:rPr lang="en-SG" sz="2000" dirty="0"/>
              <a:t> </a:t>
            </a:r>
            <a:r>
              <a:rPr lang="en-SG" sz="2000" u="sng" dirty="0">
                <a:solidFill>
                  <a:srgbClr val="FF0000"/>
                </a:solidFill>
              </a:rPr>
              <a:t>[stock component] [parameter]</a:t>
            </a:r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</p:txBody>
      </p:sp>
      <p:pic>
        <p:nvPicPr>
          <p:cNvPr id="7" name="Picture 6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E478E1-21F1-E86F-A766-341118333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78" t="16959" r="28194" b="26724"/>
          <a:stretch/>
        </p:blipFill>
        <p:spPr>
          <a:xfrm>
            <a:off x="5589317" y="1213074"/>
            <a:ext cx="3304673" cy="2467908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7914900-6923-6E99-7816-E830C5FEE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041561"/>
              </p:ext>
            </p:extLst>
          </p:nvPr>
        </p:nvGraphicFramePr>
        <p:xfrm>
          <a:off x="9200107" y="1844807"/>
          <a:ext cx="2172552" cy="12801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3637">
                  <a:extLst>
                    <a:ext uri="{9D8B030D-6E8A-4147-A177-3AD203B41FA5}">
                      <a16:colId xmlns:a16="http://schemas.microsoft.com/office/drawing/2014/main" val="2760126596"/>
                    </a:ext>
                  </a:extLst>
                </a:gridCol>
                <a:gridCol w="742641">
                  <a:extLst>
                    <a:ext uri="{9D8B030D-6E8A-4147-A177-3AD203B41FA5}">
                      <a16:colId xmlns:a16="http://schemas.microsoft.com/office/drawing/2014/main" val="1051658128"/>
                    </a:ext>
                  </a:extLst>
                </a:gridCol>
                <a:gridCol w="866274">
                  <a:extLst>
                    <a:ext uri="{9D8B030D-6E8A-4147-A177-3AD203B41FA5}">
                      <a16:colId xmlns:a16="http://schemas.microsoft.com/office/drawing/2014/main" val="3049195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Device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IP Address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Port Number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5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c0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127.0.0.1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6633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303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h1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112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h2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10.0.0.2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22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h3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5929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h4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10.0.0.4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-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98711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8BE0037-F063-DDAC-5676-46CF5978FA19}"/>
              </a:ext>
            </a:extLst>
          </p:cNvPr>
          <p:cNvSpPr txBox="1"/>
          <p:nvPr/>
        </p:nvSpPr>
        <p:spPr>
          <a:xfrm>
            <a:off x="9932593" y="3097704"/>
            <a:ext cx="17695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*</a:t>
            </a:r>
            <a:r>
              <a:rPr lang="en-SG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remote controller</a:t>
            </a:r>
          </a:p>
          <a:p>
            <a:r>
              <a:rPr lang="en-SG" sz="1400" dirty="0">
                <a:solidFill>
                  <a:srgbClr val="FF0000"/>
                </a:solidFill>
                <a:latin typeface="Times New Roman" panose="02020603050405020304" pitchFamily="18" charset="0"/>
                <a:cs typeface="Calibri" panose="020F0502020204030204" pitchFamily="34" charset="0"/>
              </a:rPr>
              <a:t>* Start CLI</a:t>
            </a:r>
            <a:r>
              <a:rPr lang="en-SG" sz="1400" dirty="0">
                <a:solidFill>
                  <a:srgbClr val="FF0000"/>
                </a:solidFill>
                <a:effectLst/>
              </a:rPr>
              <a:t>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B2A842-3492-859F-F4FF-7A5D10334D61}"/>
              </a:ext>
            </a:extLst>
          </p:cNvPr>
          <p:cNvSpPr txBox="1"/>
          <p:nvPr/>
        </p:nvSpPr>
        <p:spPr>
          <a:xfrm>
            <a:off x="5589317" y="5367830"/>
            <a:ext cx="5449829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dirty="0"/>
              <a:t>cd pox</a:t>
            </a:r>
            <a:endParaRPr lang="en-SG" dirty="0">
              <a:solidFill>
                <a:schemeClr val="accent1"/>
              </a:solidFill>
            </a:endParaRPr>
          </a:p>
          <a:p>
            <a:r>
              <a:rPr lang="en-SG" dirty="0" err="1"/>
              <a:t>sudo</a:t>
            </a:r>
            <a:r>
              <a:rPr lang="en-SG" dirty="0"/>
              <a:t> ./</a:t>
            </a:r>
            <a:r>
              <a:rPr lang="en-SG" dirty="0" err="1"/>
              <a:t>pox.py</a:t>
            </a:r>
            <a:r>
              <a:rPr lang="en-SG" dirty="0"/>
              <a:t> </a:t>
            </a:r>
            <a:r>
              <a:rPr lang="en-SG" dirty="0">
                <a:solidFill>
                  <a:schemeClr val="accent1"/>
                </a:solidFill>
              </a:rPr>
              <a:t>forwarding.l2_learning </a:t>
            </a:r>
          </a:p>
        </p:txBody>
      </p:sp>
      <p:pic>
        <p:nvPicPr>
          <p:cNvPr id="16" name="Picture 15" descr="Text&#10;&#10;Description automatically generated">
            <a:extLst>
              <a:ext uri="{FF2B5EF4-FFF2-40B4-BE49-F238E27FC236}">
                <a16:creationId xmlns:a16="http://schemas.microsoft.com/office/drawing/2014/main" id="{53D41E89-BA23-D94C-2A51-0C4A7339C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06" y="4086205"/>
            <a:ext cx="4021595" cy="240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4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accent2"/>
                </a:solidFill>
              </a:rPr>
              <a:t>To invoke the POX controller as a layer-2 learning switch.</a:t>
            </a:r>
            <a:endParaRPr lang="en-SG" sz="2000" dirty="0">
              <a:solidFill>
                <a:schemeClr val="accent2"/>
              </a:solidFill>
            </a:endParaRPr>
          </a:p>
          <a:p>
            <a:r>
              <a:rPr lang="en-GB" sz="2000" dirty="0"/>
              <a:t>To invoke the POX controller as a forwarding hub.</a:t>
            </a:r>
            <a:endParaRPr lang="en-SG" sz="2000" dirty="0"/>
          </a:p>
          <a:p>
            <a:r>
              <a:rPr lang="en-GB" sz="2000" dirty="0"/>
              <a:t>To invoke the POX controller as a load balancer.</a:t>
            </a:r>
            <a:endParaRPr lang="en-SG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marL="0" indent="0" algn="just">
              <a:buNone/>
            </a:pPr>
            <a:endParaRPr lang="en-SG" sz="2000" dirty="0"/>
          </a:p>
          <a:p>
            <a:pPr algn="just"/>
            <a:endParaRPr lang="en-SG" sz="500" dirty="0"/>
          </a:p>
          <a:p>
            <a:pPr algn="just"/>
            <a:endParaRPr lang="en-SG" sz="2000" dirty="0"/>
          </a:p>
          <a:p>
            <a:pPr algn="just"/>
            <a:r>
              <a:rPr lang="en-SG" sz="2000" dirty="0"/>
              <a:t>Check </a:t>
            </a:r>
            <a:r>
              <a:rPr lang="en-SG" sz="2000" dirty="0">
                <a:solidFill>
                  <a:schemeClr val="accent1"/>
                </a:solidFill>
              </a:rPr>
              <a:t>OVS flow table </a:t>
            </a:r>
            <a:r>
              <a:rPr lang="en-SG" sz="2000" dirty="0"/>
              <a:t>entries</a:t>
            </a:r>
          </a:p>
          <a:p>
            <a:pPr lvl="1" algn="just"/>
            <a:r>
              <a:rPr lang="en-SG" sz="1600" dirty="0">
                <a:solidFill>
                  <a:schemeClr val="accent6"/>
                </a:solidFill>
              </a:rPr>
              <a:t>Using </a:t>
            </a:r>
            <a:r>
              <a:rPr lang="en-SG" sz="1600" dirty="0" err="1">
                <a:solidFill>
                  <a:schemeClr val="accent6"/>
                </a:solidFill>
              </a:rPr>
              <a:t>ovs-ofctl</a:t>
            </a:r>
            <a:r>
              <a:rPr lang="en-SG" sz="1600" dirty="0">
                <a:solidFill>
                  <a:schemeClr val="accent6"/>
                </a:solidFill>
              </a:rPr>
              <a:t> utility</a:t>
            </a:r>
          </a:p>
          <a:p>
            <a:pPr algn="just"/>
            <a:r>
              <a:rPr lang="en-SG" sz="2000" dirty="0"/>
              <a:t>Test Connectivity</a:t>
            </a:r>
          </a:p>
          <a:p>
            <a:pPr lvl="1" algn="just"/>
            <a:r>
              <a:rPr lang="en-SG" sz="1600" dirty="0" err="1">
                <a:solidFill>
                  <a:schemeClr val="accent6"/>
                </a:solidFill>
              </a:rPr>
              <a:t>tcpdump</a:t>
            </a:r>
            <a:r>
              <a:rPr lang="en-SG" sz="1600" dirty="0">
                <a:solidFill>
                  <a:schemeClr val="accent6"/>
                </a:solidFill>
              </a:rPr>
              <a:t> on 3 hosts and ping from 1 host</a:t>
            </a:r>
            <a:endParaRPr lang="en-SG" sz="2000" dirty="0"/>
          </a:p>
          <a:p>
            <a:pPr algn="just"/>
            <a:r>
              <a:rPr lang="en-SG" sz="2000" dirty="0"/>
              <a:t>Check OVS flow table entries again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</p:txBody>
      </p:sp>
      <p:pic>
        <p:nvPicPr>
          <p:cNvPr id="7" name="Picture 6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E478E1-21F1-E86F-A766-341118333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78" t="16959" r="28194" b="26724"/>
          <a:stretch/>
        </p:blipFill>
        <p:spPr>
          <a:xfrm>
            <a:off x="5589317" y="1213074"/>
            <a:ext cx="3304673" cy="2467908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7914900-6923-6E99-7816-E830C5FEE96E}"/>
              </a:ext>
            </a:extLst>
          </p:cNvPr>
          <p:cNvGraphicFramePr>
            <a:graphicFrameLocks noGrp="1"/>
          </p:cNvGraphicFramePr>
          <p:nvPr/>
        </p:nvGraphicFramePr>
        <p:xfrm>
          <a:off x="9200107" y="1844807"/>
          <a:ext cx="2172552" cy="12801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3637">
                  <a:extLst>
                    <a:ext uri="{9D8B030D-6E8A-4147-A177-3AD203B41FA5}">
                      <a16:colId xmlns:a16="http://schemas.microsoft.com/office/drawing/2014/main" val="2760126596"/>
                    </a:ext>
                  </a:extLst>
                </a:gridCol>
                <a:gridCol w="742641">
                  <a:extLst>
                    <a:ext uri="{9D8B030D-6E8A-4147-A177-3AD203B41FA5}">
                      <a16:colId xmlns:a16="http://schemas.microsoft.com/office/drawing/2014/main" val="1051658128"/>
                    </a:ext>
                  </a:extLst>
                </a:gridCol>
                <a:gridCol w="866274">
                  <a:extLst>
                    <a:ext uri="{9D8B030D-6E8A-4147-A177-3AD203B41FA5}">
                      <a16:colId xmlns:a16="http://schemas.microsoft.com/office/drawing/2014/main" val="3049195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Device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IP Address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Port Number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5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c0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127.0.0.1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6633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303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h1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112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h2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10.0.0.2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22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h3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5929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h4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10.0.0.4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-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98711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8BE0037-F063-DDAC-5676-46CF5978FA19}"/>
              </a:ext>
            </a:extLst>
          </p:cNvPr>
          <p:cNvSpPr txBox="1"/>
          <p:nvPr/>
        </p:nvSpPr>
        <p:spPr>
          <a:xfrm>
            <a:off x="9932593" y="3097704"/>
            <a:ext cx="1769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*</a:t>
            </a:r>
            <a:r>
              <a:rPr lang="en-SG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remote controller</a:t>
            </a:r>
            <a:r>
              <a:rPr lang="en-SG" sz="1400" dirty="0">
                <a:solidFill>
                  <a:srgbClr val="FF0000"/>
                </a:solidFill>
                <a:effectLst/>
              </a:rPr>
              <a:t>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09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GB" sz="2000" dirty="0"/>
              <a:t>To invoke the POX controller as a layer-2 learning switch.</a:t>
            </a:r>
            <a:endParaRPr lang="en-SG" sz="2000" dirty="0"/>
          </a:p>
          <a:p>
            <a:r>
              <a:rPr lang="en-GB" sz="2000" dirty="0">
                <a:solidFill>
                  <a:schemeClr val="accent2"/>
                </a:solidFill>
              </a:rPr>
              <a:t>To invoke the POX controller as a forwarding hub.</a:t>
            </a:r>
            <a:endParaRPr lang="en-SG" sz="2000" dirty="0">
              <a:solidFill>
                <a:schemeClr val="accent2"/>
              </a:solidFill>
            </a:endParaRPr>
          </a:p>
          <a:p>
            <a:r>
              <a:rPr lang="en-GB" sz="2000" dirty="0"/>
              <a:t>To invoke the POX controller as a load balancer.</a:t>
            </a:r>
            <a:endParaRPr lang="en-SG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marL="0" indent="0" algn="just">
              <a:buNone/>
            </a:pPr>
            <a:endParaRPr lang="en-SG" sz="2000" dirty="0"/>
          </a:p>
          <a:p>
            <a:pPr algn="just"/>
            <a:r>
              <a:rPr lang="en-SG" sz="2000" dirty="0"/>
              <a:t>Start a POX controller and run the network</a:t>
            </a:r>
          </a:p>
          <a:p>
            <a:pPr lvl="1" algn="just"/>
            <a:r>
              <a:rPr lang="en-SG" sz="1800" dirty="0">
                <a:solidFill>
                  <a:schemeClr val="accent6"/>
                </a:solidFill>
                <a:latin typeface="Miriam Fixed" panose="020B0509050101010101" pitchFamily="49" charset="-79"/>
                <a:ea typeface="Times New Roman" panose="02020603050405020304" pitchFamily="18" charset="0"/>
              </a:rPr>
              <a:t>forwarding.hub (flooding)</a:t>
            </a:r>
            <a:endParaRPr lang="en-SG" sz="1800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</p:txBody>
      </p:sp>
      <p:pic>
        <p:nvPicPr>
          <p:cNvPr id="7" name="Picture 6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E478E1-21F1-E86F-A766-341118333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78" t="16959" r="28194" b="26724"/>
          <a:stretch/>
        </p:blipFill>
        <p:spPr>
          <a:xfrm>
            <a:off x="5589317" y="1213074"/>
            <a:ext cx="3304673" cy="2467908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7914900-6923-6E99-7816-E830C5FEE96E}"/>
              </a:ext>
            </a:extLst>
          </p:cNvPr>
          <p:cNvGraphicFramePr>
            <a:graphicFrameLocks noGrp="1"/>
          </p:cNvGraphicFramePr>
          <p:nvPr/>
        </p:nvGraphicFramePr>
        <p:xfrm>
          <a:off x="9200107" y="1844807"/>
          <a:ext cx="2172552" cy="12801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3637">
                  <a:extLst>
                    <a:ext uri="{9D8B030D-6E8A-4147-A177-3AD203B41FA5}">
                      <a16:colId xmlns:a16="http://schemas.microsoft.com/office/drawing/2014/main" val="2760126596"/>
                    </a:ext>
                  </a:extLst>
                </a:gridCol>
                <a:gridCol w="742641">
                  <a:extLst>
                    <a:ext uri="{9D8B030D-6E8A-4147-A177-3AD203B41FA5}">
                      <a16:colId xmlns:a16="http://schemas.microsoft.com/office/drawing/2014/main" val="1051658128"/>
                    </a:ext>
                  </a:extLst>
                </a:gridCol>
                <a:gridCol w="866274">
                  <a:extLst>
                    <a:ext uri="{9D8B030D-6E8A-4147-A177-3AD203B41FA5}">
                      <a16:colId xmlns:a16="http://schemas.microsoft.com/office/drawing/2014/main" val="3049195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Device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IP Address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Port Number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5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c0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127.0.0.1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6633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303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h1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112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h2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10.0.0.2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22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h3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5929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h4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10.0.0.4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-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98711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8BE0037-F063-DDAC-5676-46CF5978FA19}"/>
              </a:ext>
            </a:extLst>
          </p:cNvPr>
          <p:cNvSpPr txBox="1"/>
          <p:nvPr/>
        </p:nvSpPr>
        <p:spPr>
          <a:xfrm>
            <a:off x="9932593" y="3097704"/>
            <a:ext cx="1769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*</a:t>
            </a:r>
            <a:r>
              <a:rPr lang="en-SG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remote controller</a:t>
            </a:r>
            <a:r>
              <a:rPr lang="en-SG" sz="1400" dirty="0">
                <a:solidFill>
                  <a:srgbClr val="FF0000"/>
                </a:solidFill>
                <a:effectLst/>
              </a:rPr>
              <a:t>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0F4CB-CF7D-A5CF-DD0C-33499114CD12}"/>
              </a:ext>
            </a:extLst>
          </p:cNvPr>
          <p:cNvSpPr txBox="1"/>
          <p:nvPr/>
        </p:nvSpPr>
        <p:spPr>
          <a:xfrm>
            <a:off x="5589317" y="4377864"/>
            <a:ext cx="5449829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dirty="0"/>
              <a:t>cd pox</a:t>
            </a:r>
            <a:endParaRPr lang="en-SG" dirty="0">
              <a:solidFill>
                <a:schemeClr val="accent1"/>
              </a:solidFill>
            </a:endParaRPr>
          </a:p>
          <a:p>
            <a:r>
              <a:rPr lang="en-SG" dirty="0" err="1"/>
              <a:t>sudo</a:t>
            </a:r>
            <a:r>
              <a:rPr lang="en-SG" dirty="0"/>
              <a:t> ./</a:t>
            </a:r>
            <a:r>
              <a:rPr lang="en-SG" dirty="0" err="1"/>
              <a:t>pox.py</a:t>
            </a:r>
            <a:r>
              <a:rPr lang="en-SG" dirty="0"/>
              <a:t> </a:t>
            </a:r>
            <a:r>
              <a:rPr lang="en-SG" dirty="0">
                <a:solidFill>
                  <a:schemeClr val="accent1"/>
                </a:solidFill>
              </a:rPr>
              <a:t>forwarding.hub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774DA5-9405-0CB8-591B-8B7027D8D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155934"/>
            <a:ext cx="4390306" cy="101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34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GB" sz="2000" dirty="0"/>
              <a:t>To invoke the POX controller as a layer-2 learning switch.</a:t>
            </a:r>
            <a:endParaRPr lang="en-SG" sz="2000" dirty="0"/>
          </a:p>
          <a:p>
            <a:r>
              <a:rPr lang="en-GB" sz="2000" dirty="0">
                <a:solidFill>
                  <a:schemeClr val="accent2"/>
                </a:solidFill>
              </a:rPr>
              <a:t>To invoke the POX controller as a forwarding hub.</a:t>
            </a:r>
            <a:endParaRPr lang="en-SG" sz="2000" dirty="0">
              <a:solidFill>
                <a:schemeClr val="accent2"/>
              </a:solidFill>
            </a:endParaRPr>
          </a:p>
          <a:p>
            <a:r>
              <a:rPr lang="en-GB" sz="2000" dirty="0"/>
              <a:t>To invoke the POX controller as a load balancer.</a:t>
            </a:r>
            <a:endParaRPr lang="en-SG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marL="0" indent="0" algn="just">
              <a:buNone/>
            </a:pPr>
            <a:endParaRPr lang="en-SG" sz="2000" dirty="0"/>
          </a:p>
          <a:p>
            <a:pPr algn="just"/>
            <a:endParaRPr lang="en-SG" sz="500" dirty="0"/>
          </a:p>
          <a:p>
            <a:pPr algn="just"/>
            <a:endParaRPr lang="en-SG" sz="2000" dirty="0"/>
          </a:p>
          <a:p>
            <a:pPr algn="just"/>
            <a:r>
              <a:rPr lang="en-SG" sz="2000" dirty="0"/>
              <a:t>Test Connectivity</a:t>
            </a:r>
          </a:p>
          <a:p>
            <a:pPr lvl="1" algn="just"/>
            <a:r>
              <a:rPr lang="en-SG" sz="1600" dirty="0" err="1">
                <a:solidFill>
                  <a:schemeClr val="accent6"/>
                </a:solidFill>
              </a:rPr>
              <a:t>tcpdump</a:t>
            </a:r>
            <a:r>
              <a:rPr lang="en-SG" sz="1600" dirty="0">
                <a:solidFill>
                  <a:schemeClr val="accent6"/>
                </a:solidFill>
              </a:rPr>
              <a:t> on 3 hosts and ping from 1 host</a:t>
            </a:r>
            <a:endParaRPr lang="en-SG" sz="2000" dirty="0"/>
          </a:p>
          <a:p>
            <a:pPr algn="just"/>
            <a:r>
              <a:rPr lang="en-SG" sz="2000" dirty="0"/>
              <a:t>Check </a:t>
            </a:r>
            <a:r>
              <a:rPr lang="en-SG" sz="2000" dirty="0">
                <a:solidFill>
                  <a:schemeClr val="accent1"/>
                </a:solidFill>
              </a:rPr>
              <a:t>OVS flow table </a:t>
            </a:r>
            <a:r>
              <a:rPr lang="en-SG" sz="2000" dirty="0"/>
              <a:t>entries</a:t>
            </a:r>
          </a:p>
          <a:p>
            <a:pPr lvl="1" algn="just"/>
            <a:r>
              <a:rPr lang="en-SG" sz="1600" dirty="0">
                <a:solidFill>
                  <a:schemeClr val="accent6"/>
                </a:solidFill>
              </a:rPr>
              <a:t>Using </a:t>
            </a:r>
            <a:r>
              <a:rPr lang="en-SG" sz="1600" dirty="0" err="1">
                <a:solidFill>
                  <a:schemeClr val="accent6"/>
                </a:solidFill>
              </a:rPr>
              <a:t>ovs-ofctl</a:t>
            </a:r>
            <a:r>
              <a:rPr lang="en-SG" sz="1600" dirty="0">
                <a:solidFill>
                  <a:schemeClr val="accent6"/>
                </a:solidFill>
              </a:rPr>
              <a:t> utility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</p:txBody>
      </p:sp>
      <p:pic>
        <p:nvPicPr>
          <p:cNvPr id="7" name="Picture 6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E478E1-21F1-E86F-A766-341118333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78" t="16959" r="28194" b="26724"/>
          <a:stretch/>
        </p:blipFill>
        <p:spPr>
          <a:xfrm>
            <a:off x="5589317" y="1213074"/>
            <a:ext cx="3304673" cy="2467908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7914900-6923-6E99-7816-E830C5FEE96E}"/>
              </a:ext>
            </a:extLst>
          </p:cNvPr>
          <p:cNvGraphicFramePr>
            <a:graphicFrameLocks noGrp="1"/>
          </p:cNvGraphicFramePr>
          <p:nvPr/>
        </p:nvGraphicFramePr>
        <p:xfrm>
          <a:off x="9200107" y="1844807"/>
          <a:ext cx="2172552" cy="12801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3637">
                  <a:extLst>
                    <a:ext uri="{9D8B030D-6E8A-4147-A177-3AD203B41FA5}">
                      <a16:colId xmlns:a16="http://schemas.microsoft.com/office/drawing/2014/main" val="2760126596"/>
                    </a:ext>
                  </a:extLst>
                </a:gridCol>
                <a:gridCol w="742641">
                  <a:extLst>
                    <a:ext uri="{9D8B030D-6E8A-4147-A177-3AD203B41FA5}">
                      <a16:colId xmlns:a16="http://schemas.microsoft.com/office/drawing/2014/main" val="1051658128"/>
                    </a:ext>
                  </a:extLst>
                </a:gridCol>
                <a:gridCol w="866274">
                  <a:extLst>
                    <a:ext uri="{9D8B030D-6E8A-4147-A177-3AD203B41FA5}">
                      <a16:colId xmlns:a16="http://schemas.microsoft.com/office/drawing/2014/main" val="3049195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Device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IP Address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Port Number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5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c0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127.0.0.1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6633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303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h1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112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h2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10.0.0.2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22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h3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5929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h4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10.0.0.4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-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98711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8BE0037-F063-DDAC-5676-46CF5978FA19}"/>
              </a:ext>
            </a:extLst>
          </p:cNvPr>
          <p:cNvSpPr txBox="1"/>
          <p:nvPr/>
        </p:nvSpPr>
        <p:spPr>
          <a:xfrm>
            <a:off x="9932593" y="3097704"/>
            <a:ext cx="1769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*</a:t>
            </a:r>
            <a:r>
              <a:rPr lang="en-SG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remote controller</a:t>
            </a:r>
            <a:r>
              <a:rPr lang="en-SG" sz="1400" dirty="0">
                <a:solidFill>
                  <a:srgbClr val="FF0000"/>
                </a:solidFill>
                <a:effectLst/>
              </a:rPr>
              <a:t>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6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GB" sz="2000" dirty="0"/>
              <a:t>To invoke the POX controller as a layer-2 learning switch.</a:t>
            </a:r>
            <a:endParaRPr lang="en-SG" sz="2000" dirty="0"/>
          </a:p>
          <a:p>
            <a:r>
              <a:rPr lang="en-GB" sz="2000" dirty="0"/>
              <a:t>To invoke the POX controller as a forwarding hub.</a:t>
            </a:r>
            <a:endParaRPr lang="en-SG" sz="2000" dirty="0"/>
          </a:p>
          <a:p>
            <a:r>
              <a:rPr lang="en-GB" sz="2000" dirty="0">
                <a:solidFill>
                  <a:schemeClr val="accent2"/>
                </a:solidFill>
              </a:rPr>
              <a:t>To invoke the POX controller as a load balancer.</a:t>
            </a:r>
            <a:endParaRPr lang="en-SG" sz="20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marL="0" indent="0" algn="just">
              <a:buNone/>
            </a:pPr>
            <a:endParaRPr lang="en-SG" sz="2000" dirty="0"/>
          </a:p>
          <a:p>
            <a:pPr algn="just"/>
            <a:r>
              <a:rPr lang="en-SG" sz="2000" dirty="0"/>
              <a:t>Start a POX controller and run the network</a:t>
            </a:r>
          </a:p>
          <a:p>
            <a:pPr lvl="1" algn="just"/>
            <a:r>
              <a:rPr lang="en-SG" sz="1800" dirty="0" err="1">
                <a:solidFill>
                  <a:schemeClr val="accent6"/>
                </a:solidFill>
                <a:latin typeface="Miriam Fixed" panose="020B0509050101010101" pitchFamily="49" charset="-79"/>
                <a:ea typeface="Times New Roman" panose="02020603050405020304" pitchFamily="18" charset="0"/>
                <a:cs typeface="Miriam Fixed" panose="020B0509050101010101" pitchFamily="49" charset="-79"/>
              </a:rPr>
              <a:t>Misc.ip_loadbalancer</a:t>
            </a:r>
            <a:r>
              <a:rPr lang="en-SG" sz="1800" dirty="0">
                <a:solidFill>
                  <a:schemeClr val="accent6"/>
                </a:solidFill>
                <a:latin typeface="Miriam Fixed" panose="020B0509050101010101" pitchFamily="49" charset="-79"/>
                <a:ea typeface="Times New Roman" panose="02020603050405020304" pitchFamily="18" charset="0"/>
                <a:cs typeface="Miriam Fixed" panose="020B0509050101010101" pitchFamily="49" charset="-79"/>
              </a:rPr>
              <a:t> (</a:t>
            </a:r>
            <a:r>
              <a:rPr lang="en-SG" sz="1800" dirty="0">
                <a:solidFill>
                  <a:schemeClr val="accent6"/>
                </a:solidFill>
                <a:latin typeface="Miriam Fixed" panose="020B0509050101010101" pitchFamily="49" charset="-79"/>
                <a:cs typeface="Miriam Fixed" panose="020B0509050101010101" pitchFamily="49" charset="-79"/>
              </a:rPr>
              <a:t>balance the load among servers</a:t>
            </a:r>
            <a:r>
              <a:rPr lang="en-SG" sz="1800" dirty="0">
                <a:solidFill>
                  <a:schemeClr val="accent6"/>
                </a:solidFill>
                <a:latin typeface="Miriam Fixed" panose="020B0509050101010101" pitchFamily="49" charset="-79"/>
                <a:ea typeface="Times New Roman" panose="02020603050405020304" pitchFamily="18" charset="0"/>
                <a:cs typeface="Miriam Fixed" panose="020B0509050101010101" pitchFamily="49" charset="-79"/>
              </a:rPr>
              <a:t>)</a:t>
            </a:r>
            <a:endParaRPr lang="en-SG" sz="1800" dirty="0">
              <a:solidFill>
                <a:schemeClr val="accent6"/>
              </a:solidFill>
              <a:latin typeface="Miriam Fixed" panose="020B0509050101010101" pitchFamily="49" charset="-79"/>
              <a:cs typeface="Miriam Fixed" panose="020B0509050101010101" pitchFamily="49" charset="-79"/>
            </a:endParaRPr>
          </a:p>
          <a:p>
            <a:pPr algn="just"/>
            <a:r>
              <a:rPr lang="en-SG" sz="2000" dirty="0" err="1"/>
              <a:t>sudo</a:t>
            </a:r>
            <a:r>
              <a:rPr lang="en-SG" sz="2000" dirty="0"/>
              <a:t> ./</a:t>
            </a:r>
            <a:r>
              <a:rPr lang="en-SG" sz="2000" dirty="0" err="1"/>
              <a:t>pox.py</a:t>
            </a:r>
            <a:r>
              <a:rPr lang="en-SG" sz="2000" dirty="0"/>
              <a:t> </a:t>
            </a:r>
            <a:r>
              <a:rPr lang="en-SG" sz="2000" u="sng" dirty="0">
                <a:solidFill>
                  <a:srgbClr val="FF0000"/>
                </a:solidFill>
              </a:rPr>
              <a:t>[stock component] [parameter]</a:t>
            </a:r>
            <a:endParaRPr lang="en-SG" sz="2000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7914900-6923-6E99-7816-E830C5FEE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539420"/>
              </p:ext>
            </p:extLst>
          </p:nvPr>
        </p:nvGraphicFramePr>
        <p:xfrm>
          <a:off x="8991561" y="1684387"/>
          <a:ext cx="2172552" cy="12801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3637">
                  <a:extLst>
                    <a:ext uri="{9D8B030D-6E8A-4147-A177-3AD203B41FA5}">
                      <a16:colId xmlns:a16="http://schemas.microsoft.com/office/drawing/2014/main" val="2760126596"/>
                    </a:ext>
                  </a:extLst>
                </a:gridCol>
                <a:gridCol w="742641">
                  <a:extLst>
                    <a:ext uri="{9D8B030D-6E8A-4147-A177-3AD203B41FA5}">
                      <a16:colId xmlns:a16="http://schemas.microsoft.com/office/drawing/2014/main" val="1051658128"/>
                    </a:ext>
                  </a:extLst>
                </a:gridCol>
                <a:gridCol w="866274">
                  <a:extLst>
                    <a:ext uri="{9D8B030D-6E8A-4147-A177-3AD203B41FA5}">
                      <a16:colId xmlns:a16="http://schemas.microsoft.com/office/drawing/2014/main" val="3049195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Device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IP Address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Port Number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5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c0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127.0.0.1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6633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303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h1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112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h2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10.0.0.2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22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h3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5929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h4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10.0.0.4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-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98711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8BE0037-F063-DDAC-5676-46CF5978FA19}"/>
              </a:ext>
            </a:extLst>
          </p:cNvPr>
          <p:cNvSpPr txBox="1"/>
          <p:nvPr/>
        </p:nvSpPr>
        <p:spPr>
          <a:xfrm>
            <a:off x="9724047" y="2937284"/>
            <a:ext cx="1769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*</a:t>
            </a:r>
            <a:r>
              <a:rPr lang="en-SG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remote controller</a:t>
            </a:r>
            <a:r>
              <a:rPr lang="en-SG" sz="1400" dirty="0">
                <a:solidFill>
                  <a:srgbClr val="FF0000"/>
                </a:solidFill>
                <a:effectLst/>
              </a:rPr>
              <a:t>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FEA06DF-B6D6-C42A-EE7A-591EFF1F6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916" y="1319200"/>
            <a:ext cx="2945319" cy="2169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CA32E5-DBEE-DAEB-21C5-3D6FBEC70EC3}"/>
              </a:ext>
            </a:extLst>
          </p:cNvPr>
          <p:cNvSpPr txBox="1"/>
          <p:nvPr/>
        </p:nvSpPr>
        <p:spPr>
          <a:xfrm>
            <a:off x="5464714" y="5026760"/>
            <a:ext cx="5854641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dirty="0"/>
              <a:t>cd pox</a:t>
            </a:r>
            <a:endParaRPr lang="en-SG" dirty="0">
              <a:solidFill>
                <a:schemeClr val="accent1"/>
              </a:solidFill>
            </a:endParaRPr>
          </a:p>
          <a:p>
            <a:r>
              <a:rPr lang="en-SG" dirty="0" err="1"/>
              <a:t>sudo</a:t>
            </a:r>
            <a:r>
              <a:rPr lang="en-SG" dirty="0"/>
              <a:t> ./</a:t>
            </a:r>
            <a:r>
              <a:rPr lang="en-SG" dirty="0" err="1"/>
              <a:t>pox.py</a:t>
            </a:r>
            <a:r>
              <a:rPr lang="en-SG" dirty="0"/>
              <a:t> </a:t>
            </a:r>
            <a:r>
              <a:rPr lang="en-SG" dirty="0" err="1">
                <a:solidFill>
                  <a:schemeClr val="accent1"/>
                </a:solidFill>
              </a:rPr>
              <a:t>misc.ip_loadbalancer</a:t>
            </a:r>
            <a:r>
              <a:rPr lang="en-SG" dirty="0">
                <a:solidFill>
                  <a:schemeClr val="accent1"/>
                </a:solidFill>
              </a:rPr>
              <a:t> --</a:t>
            </a:r>
            <a:r>
              <a:rPr lang="en-SG" dirty="0" err="1">
                <a:solidFill>
                  <a:schemeClr val="accent1"/>
                </a:solidFill>
              </a:rPr>
              <a:t>ip</a:t>
            </a:r>
            <a:r>
              <a:rPr lang="en-SG" dirty="0">
                <a:solidFill>
                  <a:schemeClr val="accent1"/>
                </a:solidFill>
              </a:rPr>
              <a:t>=10.0.10.1 </a:t>
            </a:r>
          </a:p>
          <a:p>
            <a:r>
              <a:rPr lang="en-SG" dirty="0">
                <a:solidFill>
                  <a:schemeClr val="accent1"/>
                </a:solidFill>
              </a:rPr>
              <a:t>--servers=10.0.0.1,10.0.0.2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EF6F5E-42C5-F441-6CF0-21C235884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" y="4203032"/>
            <a:ext cx="4113673" cy="246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7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GB" sz="2000" dirty="0"/>
              <a:t>To invoke the POX controller as a layer-2 learning switch.</a:t>
            </a:r>
            <a:endParaRPr lang="en-SG" sz="2000" dirty="0"/>
          </a:p>
          <a:p>
            <a:r>
              <a:rPr lang="en-GB" sz="2000" dirty="0"/>
              <a:t>To invoke the POX controller as a forwarding hub.</a:t>
            </a:r>
            <a:endParaRPr lang="en-SG" sz="2000" dirty="0"/>
          </a:p>
          <a:p>
            <a:r>
              <a:rPr lang="en-GB" sz="2000" dirty="0">
                <a:solidFill>
                  <a:schemeClr val="accent2"/>
                </a:solidFill>
              </a:rPr>
              <a:t>To invoke the POX controller as a load balancer.</a:t>
            </a:r>
            <a:endParaRPr lang="en-SG" sz="20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marL="0" indent="0" algn="just">
              <a:buNone/>
            </a:pPr>
            <a:endParaRPr lang="en-SG" sz="3200" dirty="0"/>
          </a:p>
          <a:p>
            <a:pPr algn="just"/>
            <a:r>
              <a:rPr lang="en-SG" sz="2000" dirty="0"/>
              <a:t>Test Connectivity</a:t>
            </a:r>
          </a:p>
          <a:p>
            <a:pPr lvl="1" algn="just"/>
            <a:r>
              <a:rPr lang="en-SG" sz="1600" dirty="0">
                <a:solidFill>
                  <a:schemeClr val="accent6"/>
                </a:solidFill>
              </a:rPr>
              <a:t>Start </a:t>
            </a:r>
            <a:r>
              <a:rPr lang="en-SG" sz="1600" dirty="0" err="1">
                <a:solidFill>
                  <a:schemeClr val="accent6"/>
                </a:solidFill>
              </a:rPr>
              <a:t>tcp</a:t>
            </a:r>
            <a:r>
              <a:rPr lang="en-SG" sz="1600" dirty="0">
                <a:solidFill>
                  <a:schemeClr val="accent6"/>
                </a:solidFill>
              </a:rPr>
              <a:t> servers and send data from client to server using curl</a:t>
            </a:r>
            <a:endParaRPr lang="en-SG" sz="2000" dirty="0"/>
          </a:p>
          <a:p>
            <a:pPr algn="just"/>
            <a:endParaRPr lang="en-SG" sz="20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7914900-6923-6E99-7816-E830C5FEE96E}"/>
              </a:ext>
            </a:extLst>
          </p:cNvPr>
          <p:cNvGraphicFramePr>
            <a:graphicFrameLocks noGrp="1"/>
          </p:cNvGraphicFramePr>
          <p:nvPr/>
        </p:nvGraphicFramePr>
        <p:xfrm>
          <a:off x="8991561" y="1684387"/>
          <a:ext cx="2172552" cy="12801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3637">
                  <a:extLst>
                    <a:ext uri="{9D8B030D-6E8A-4147-A177-3AD203B41FA5}">
                      <a16:colId xmlns:a16="http://schemas.microsoft.com/office/drawing/2014/main" val="2760126596"/>
                    </a:ext>
                  </a:extLst>
                </a:gridCol>
                <a:gridCol w="742641">
                  <a:extLst>
                    <a:ext uri="{9D8B030D-6E8A-4147-A177-3AD203B41FA5}">
                      <a16:colId xmlns:a16="http://schemas.microsoft.com/office/drawing/2014/main" val="1051658128"/>
                    </a:ext>
                  </a:extLst>
                </a:gridCol>
                <a:gridCol w="866274">
                  <a:extLst>
                    <a:ext uri="{9D8B030D-6E8A-4147-A177-3AD203B41FA5}">
                      <a16:colId xmlns:a16="http://schemas.microsoft.com/office/drawing/2014/main" val="3049195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Device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IP Address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Port Number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5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c0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127.0.0.1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6633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303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h1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112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h2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10.0.0.2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22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h3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5929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h4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10.0.0.4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-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98711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8BE0037-F063-DDAC-5676-46CF5978FA19}"/>
              </a:ext>
            </a:extLst>
          </p:cNvPr>
          <p:cNvSpPr txBox="1"/>
          <p:nvPr/>
        </p:nvSpPr>
        <p:spPr>
          <a:xfrm>
            <a:off x="9724047" y="2937284"/>
            <a:ext cx="1769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*</a:t>
            </a:r>
            <a:r>
              <a:rPr lang="en-SG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remote controller</a:t>
            </a:r>
            <a:r>
              <a:rPr lang="en-SG" sz="1400" dirty="0">
                <a:solidFill>
                  <a:srgbClr val="FF0000"/>
                </a:solidFill>
                <a:effectLst/>
              </a:rPr>
              <a:t>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FEA06DF-B6D6-C42A-EE7A-591EFF1F6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19200"/>
            <a:ext cx="2708235" cy="1994617"/>
          </a:xfrm>
          <a:prstGeom prst="rect">
            <a:avLst/>
          </a:prstGeo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05CD7149-E50B-245F-1C07-E39D03304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820" y="4764445"/>
            <a:ext cx="3700496" cy="1364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2CB73D-3855-9518-5995-4A74B0F5D47E}"/>
              </a:ext>
            </a:extLst>
          </p:cNvPr>
          <p:cNvSpPr txBox="1"/>
          <p:nvPr/>
        </p:nvSpPr>
        <p:spPr>
          <a:xfrm>
            <a:off x="5485605" y="4022813"/>
            <a:ext cx="5854641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SG" dirty="0"/>
              <a:t>SERVER : </a:t>
            </a:r>
            <a:r>
              <a:rPr lang="en-SG" dirty="0">
                <a:solidFill>
                  <a:schemeClr val="accent1"/>
                </a:solidFill>
              </a:rPr>
              <a:t>python –m </a:t>
            </a:r>
            <a:r>
              <a:rPr lang="en-SG" dirty="0" err="1">
                <a:solidFill>
                  <a:schemeClr val="accent1"/>
                </a:solidFill>
              </a:rPr>
              <a:t>http.server</a:t>
            </a:r>
            <a:r>
              <a:rPr lang="en-SG" dirty="0">
                <a:solidFill>
                  <a:schemeClr val="accent1"/>
                </a:solidFill>
              </a:rPr>
              <a:t> 80</a:t>
            </a:r>
          </a:p>
          <a:p>
            <a:r>
              <a:rPr lang="en-SG" dirty="0"/>
              <a:t>CLIENT : </a:t>
            </a:r>
            <a:r>
              <a:rPr lang="en-SG" dirty="0">
                <a:solidFill>
                  <a:schemeClr val="accent1"/>
                </a:solidFill>
              </a:rPr>
              <a:t>curl 10.0.10.1</a:t>
            </a:r>
          </a:p>
        </p:txBody>
      </p:sp>
    </p:spTree>
    <p:extLst>
      <p:ext uri="{BB962C8B-B14F-4D97-AF65-F5344CB8AC3E}">
        <p14:creationId xmlns:p14="http://schemas.microsoft.com/office/powerpoint/2010/main" val="124686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3045A-C1AF-58AC-60B5-52B85F952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48" y="1788273"/>
            <a:ext cx="3505494" cy="3785419"/>
          </a:xfrm>
        </p:spPr>
        <p:txBody>
          <a:bodyPr>
            <a:normAutofit/>
          </a:bodyPr>
          <a:lstStyle/>
          <a:p>
            <a:r>
              <a:rPr lang="en-GB" sz="2000" dirty="0"/>
              <a:t>To invoke the POX controller as a layer-2 learning switch.</a:t>
            </a:r>
            <a:endParaRPr lang="en-SG" sz="2000" dirty="0"/>
          </a:p>
          <a:p>
            <a:r>
              <a:rPr lang="en-GB" sz="2000" dirty="0"/>
              <a:t>To invoke the POX controller as a forwarding hub.</a:t>
            </a:r>
            <a:endParaRPr lang="en-SG" sz="2000" dirty="0"/>
          </a:p>
          <a:p>
            <a:r>
              <a:rPr lang="en-GB" sz="2000" dirty="0">
                <a:solidFill>
                  <a:schemeClr val="accent2"/>
                </a:solidFill>
              </a:rPr>
              <a:t>To invoke the POX controller as a load balancer.</a:t>
            </a:r>
            <a:endParaRPr lang="en-SG" sz="2000" dirty="0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E9BF-FEC9-F09D-FCAF-E2AB30F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3A12B-9CFC-C19B-8065-7BD1DE7E1699}"/>
              </a:ext>
            </a:extLst>
          </p:cNvPr>
          <p:cNvSpPr txBox="1">
            <a:spLocks/>
          </p:cNvSpPr>
          <p:nvPr/>
        </p:nvSpPr>
        <p:spPr>
          <a:xfrm>
            <a:off x="5283200" y="688622"/>
            <a:ext cx="6259452" cy="548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SG" dirty="0"/>
              <a:t>Topology (demo)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algn="just"/>
            <a:endParaRPr lang="en-SG" dirty="0"/>
          </a:p>
          <a:p>
            <a:pPr marL="0" indent="0" algn="just">
              <a:buNone/>
            </a:pPr>
            <a:endParaRPr lang="en-SG" sz="2000" dirty="0"/>
          </a:p>
          <a:p>
            <a:pPr algn="just"/>
            <a:r>
              <a:rPr lang="en-SG" sz="2000" dirty="0"/>
              <a:t>Check </a:t>
            </a:r>
            <a:r>
              <a:rPr lang="en-SG" sz="2000" dirty="0">
                <a:solidFill>
                  <a:schemeClr val="accent1"/>
                </a:solidFill>
              </a:rPr>
              <a:t>OVS flow table </a:t>
            </a:r>
            <a:r>
              <a:rPr lang="en-SG" sz="2000" dirty="0"/>
              <a:t>entries</a:t>
            </a:r>
          </a:p>
          <a:p>
            <a:pPr lvl="1" algn="just"/>
            <a:r>
              <a:rPr lang="en-SG" sz="1600" dirty="0">
                <a:solidFill>
                  <a:schemeClr val="accent6"/>
                </a:solidFill>
              </a:rPr>
              <a:t>Using </a:t>
            </a:r>
            <a:r>
              <a:rPr lang="en-SG" sz="1600" dirty="0" err="1">
                <a:solidFill>
                  <a:schemeClr val="accent6"/>
                </a:solidFill>
              </a:rPr>
              <a:t>ovs-ofctl</a:t>
            </a:r>
            <a:r>
              <a:rPr lang="en-SG" sz="1600" dirty="0">
                <a:solidFill>
                  <a:schemeClr val="accent6"/>
                </a:solidFill>
              </a:rPr>
              <a:t> utility</a:t>
            </a:r>
          </a:p>
          <a:p>
            <a:pPr algn="just"/>
            <a:endParaRPr lang="en-SG" dirty="0"/>
          </a:p>
          <a:p>
            <a:pPr algn="just"/>
            <a:endParaRPr lang="en-SG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7914900-6923-6E99-7816-E830C5FEE96E}"/>
              </a:ext>
            </a:extLst>
          </p:cNvPr>
          <p:cNvGraphicFramePr>
            <a:graphicFrameLocks noGrp="1"/>
          </p:cNvGraphicFramePr>
          <p:nvPr/>
        </p:nvGraphicFramePr>
        <p:xfrm>
          <a:off x="8991561" y="1684387"/>
          <a:ext cx="2172552" cy="12801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63637">
                  <a:extLst>
                    <a:ext uri="{9D8B030D-6E8A-4147-A177-3AD203B41FA5}">
                      <a16:colId xmlns:a16="http://schemas.microsoft.com/office/drawing/2014/main" val="2760126596"/>
                    </a:ext>
                  </a:extLst>
                </a:gridCol>
                <a:gridCol w="742641">
                  <a:extLst>
                    <a:ext uri="{9D8B030D-6E8A-4147-A177-3AD203B41FA5}">
                      <a16:colId xmlns:a16="http://schemas.microsoft.com/office/drawing/2014/main" val="1051658128"/>
                    </a:ext>
                  </a:extLst>
                </a:gridCol>
                <a:gridCol w="866274">
                  <a:extLst>
                    <a:ext uri="{9D8B030D-6E8A-4147-A177-3AD203B41FA5}">
                      <a16:colId xmlns:a16="http://schemas.microsoft.com/office/drawing/2014/main" val="3049195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Device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IP Address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Port Number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15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c0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127.0.0.1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6633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3039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h1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10.0.0.1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1125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h2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10.0.0.2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022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h3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10.0.0.3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-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5929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h4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>
                          <a:effectLst/>
                        </a:rPr>
                        <a:t>10.0.0.4</a:t>
                      </a:r>
                      <a:endParaRPr lang="en-SG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200" dirty="0">
                          <a:effectLst/>
                        </a:rPr>
                        <a:t>-</a:t>
                      </a:r>
                      <a:endParaRPr lang="en-SG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98711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8BE0037-F063-DDAC-5676-46CF5978FA19}"/>
              </a:ext>
            </a:extLst>
          </p:cNvPr>
          <p:cNvSpPr txBox="1"/>
          <p:nvPr/>
        </p:nvSpPr>
        <p:spPr>
          <a:xfrm>
            <a:off x="9724047" y="2937284"/>
            <a:ext cx="17695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*</a:t>
            </a:r>
            <a:r>
              <a:rPr lang="en-SG" sz="1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remote controller</a:t>
            </a:r>
            <a:r>
              <a:rPr lang="en-SG" sz="1400" dirty="0">
                <a:solidFill>
                  <a:srgbClr val="FF0000"/>
                </a:solidFill>
                <a:effectLst/>
              </a:rPr>
              <a:t> 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FEA06DF-B6D6-C42A-EE7A-591EFF1F6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19200"/>
            <a:ext cx="2708235" cy="199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70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C6CB-DA18-85B8-63CF-785E9EDF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Problem</a:t>
            </a:r>
          </a:p>
        </p:txBody>
      </p:sp>
      <p:pic>
        <p:nvPicPr>
          <p:cNvPr id="5" name="Content Placeholder 4">
            <a:hlinkClick r:id="rId2"/>
            <a:extLst>
              <a:ext uri="{FF2B5EF4-FFF2-40B4-BE49-F238E27FC236}">
                <a16:creationId xmlns:a16="http://schemas.microsoft.com/office/drawing/2014/main" id="{3A89304B-9A91-ED5B-3EC8-3FB384B56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73550" y="1524908"/>
            <a:ext cx="3510617" cy="4967967"/>
          </a:xfrm>
        </p:spPr>
      </p:pic>
    </p:spTree>
    <p:extLst>
      <p:ext uri="{BB962C8B-B14F-4D97-AF65-F5344CB8AC3E}">
        <p14:creationId xmlns:p14="http://schemas.microsoft.com/office/powerpoint/2010/main" val="2415298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8DD8-A854-4847-BDBF-C43E7D28C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B0ED-C217-6C5B-4DAE-C958FF3AB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hlinkClick r:id="rId2"/>
              </a:rPr>
              <a:t>https://noxrepo.github.io/pox-doc/html/#stock-components</a:t>
            </a:r>
            <a:r>
              <a:rPr lang="en-US" sz="2400" dirty="0"/>
              <a:t> – POX Controller</a:t>
            </a:r>
          </a:p>
          <a:p>
            <a:r>
              <a:rPr lang="en-US" sz="2400" dirty="0">
                <a:hlinkClick r:id="rId3"/>
              </a:rPr>
              <a:t>http://mininet.org/</a:t>
            </a:r>
            <a:r>
              <a:rPr lang="en-US" sz="2400" dirty="0"/>
              <a:t> -  Basics </a:t>
            </a:r>
          </a:p>
          <a:p>
            <a:r>
              <a:rPr lang="en-US" sz="2400" dirty="0">
                <a:hlinkClick r:id="rId4"/>
              </a:rPr>
              <a:t>https://docs.python.org/3/</a:t>
            </a:r>
            <a:r>
              <a:rPr lang="en-US" sz="2400" dirty="0"/>
              <a:t> - Python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115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5777</TotalTime>
  <Words>1164</Words>
  <Application>Microsoft Office PowerPoint</Application>
  <PresentationFormat>宽屏</PresentationFormat>
  <Paragraphs>301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Miriam Fixed</vt:lpstr>
      <vt:lpstr>Times New Roman</vt:lpstr>
      <vt:lpstr>Office Theme</vt:lpstr>
      <vt:lpstr>Lab 03 Software-Defined Network (SDN) with POX Controller</vt:lpstr>
      <vt:lpstr>Class Activity</vt:lpstr>
      <vt:lpstr>Class Activity</vt:lpstr>
      <vt:lpstr>Introduction</vt:lpstr>
      <vt:lpstr>Class Activity</vt:lpstr>
      <vt:lpstr>Class Activity</vt:lpstr>
      <vt:lpstr>Class Activity</vt:lpstr>
      <vt:lpstr>Class Activity</vt:lpstr>
      <vt:lpstr>Class Activity</vt:lpstr>
      <vt:lpstr>Class Activity</vt:lpstr>
      <vt:lpstr>Class Activity</vt:lpstr>
      <vt:lpstr>Class Activity</vt:lpstr>
      <vt:lpstr>Class Activity</vt:lpstr>
      <vt:lpstr>Class Activity</vt:lpstr>
      <vt:lpstr>Assignment Problem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Anum Talpur</dc:creator>
  <cp:lastModifiedBy>binghui wu</cp:lastModifiedBy>
  <cp:revision>101</cp:revision>
  <dcterms:created xsi:type="dcterms:W3CDTF">2022-09-30T04:32:35Z</dcterms:created>
  <dcterms:modified xsi:type="dcterms:W3CDTF">2023-10-17T11:52:04Z</dcterms:modified>
</cp:coreProperties>
</file>